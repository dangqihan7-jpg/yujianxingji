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2a71df21a1472d" /><Relationship Type="http://schemas.openxmlformats.org/officeDocument/2006/relationships/extended-properties" Target="/docProps/app.xml" Id="Rc8cd44d0d5964b59" /><Relationship Type="http://schemas.openxmlformats.org/officeDocument/2006/relationships/officeDocument" Target="/ppt/presentation.xml" Id="Rb035491198d2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8ac7f08a94715"/>
  </p:sldMasterIdLst>
  <p:notesMasterIdLst>
    <p:notesMasterId xmlns:r="http://schemas.openxmlformats.org/officeDocument/2006/relationships" r:id="R2630c6cce7314541"/>
  </p:notesMasterIdLst>
  <p:sldIdLst>
    <p:sldId xmlns:r="http://schemas.openxmlformats.org/officeDocument/2006/relationships" id="256" r:id="R6b98996c649a456d"/>
    <p:sldId xmlns:r="http://schemas.openxmlformats.org/officeDocument/2006/relationships" id="257" r:id="R38942d7656e54913"/>
    <p:sldId xmlns:r="http://schemas.openxmlformats.org/officeDocument/2006/relationships" id="258" r:id="R4eb7aff34ed0406b"/>
    <p:sldId xmlns:r="http://schemas.openxmlformats.org/officeDocument/2006/relationships" id="259" r:id="R84a4b738fc2b4b6c"/>
    <p:sldId xmlns:r="http://schemas.openxmlformats.org/officeDocument/2006/relationships" id="260" r:id="R4dd8bcf23f124e81"/>
    <p:sldId xmlns:r="http://schemas.openxmlformats.org/officeDocument/2006/relationships" id="261" r:id="R556470dbf344453f"/>
    <p:sldId xmlns:r="http://schemas.openxmlformats.org/officeDocument/2006/relationships" id="262" r:id="R09245321641e4e6d"/>
    <p:sldId xmlns:r="http://schemas.openxmlformats.org/officeDocument/2006/relationships" id="263" r:id="Rf94b338cdeeb40f5"/>
    <p:sldId xmlns:r="http://schemas.openxmlformats.org/officeDocument/2006/relationships" id="264" r:id="Rb5ca181f43104907"/>
    <p:sldId xmlns:r="http://schemas.openxmlformats.org/officeDocument/2006/relationships" id="265" r:id="Rb2e1bb71f7ec4637"/>
    <p:sldId xmlns:r="http://schemas.openxmlformats.org/officeDocument/2006/relationships" id="266" r:id="Rc2b3cf4fc6714f19"/>
    <p:sldId xmlns:r="http://schemas.openxmlformats.org/officeDocument/2006/relationships" id="267" r:id="R3b1b758343e04393"/>
    <p:sldId xmlns:r="http://schemas.openxmlformats.org/officeDocument/2006/relationships" id="268" r:id="R9009070956884992"/>
    <p:sldId xmlns:r="http://schemas.openxmlformats.org/officeDocument/2006/relationships" id="269" r:id="R93e6a1759d2445ce"/>
    <p:sldId xmlns:r="http://schemas.openxmlformats.org/officeDocument/2006/relationships" id="270" r:id="Rfbd3170f2e414e1b"/>
    <p:sldId xmlns:r="http://schemas.openxmlformats.org/officeDocument/2006/relationships" id="271" r:id="R6cee298d9afd46a2"/>
    <p:sldId xmlns:r="http://schemas.openxmlformats.org/officeDocument/2006/relationships" id="272" r:id="R21340f72a0694a1e"/>
    <p:sldId xmlns:r="http://schemas.openxmlformats.org/officeDocument/2006/relationships" id="273" r:id="R116c28e1337d42a2"/>
    <p:sldId xmlns:r="http://schemas.openxmlformats.org/officeDocument/2006/relationships" id="274" r:id="Rb1e66b420ae64f75"/>
    <p:sldId xmlns:r="http://schemas.openxmlformats.org/officeDocument/2006/relationships" id="275" r:id="R35395ab5935a4d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3ef24272b4429" /><Relationship Type="http://schemas.openxmlformats.org/officeDocument/2006/relationships/slideMaster" Target="/ppt/slideMasters/slideMaster1.xml" Id="R3a38ac7f08a94715" /><Relationship Type="http://schemas.openxmlformats.org/officeDocument/2006/relationships/notesMaster" Target="/ppt/notesMasters/notesMaster1.xml" Id="R2630c6cce7314541" /><Relationship Type="http://schemas.openxmlformats.org/officeDocument/2006/relationships/presProps" Target="/ppt/presProps.xml" Id="Rc54858c31d3d48d7" /><Relationship Type="http://schemas.openxmlformats.org/officeDocument/2006/relationships/tableStyles" Target="/ppt/tableStyles.xml" Id="R3b19c1f4bdf44a4c" /><Relationship Type="http://schemas.openxmlformats.org/officeDocument/2006/relationships/slide" Target="/ppt/slides/slide1.xml" Id="R6b98996c649a456d" /><Relationship Type="http://schemas.openxmlformats.org/officeDocument/2006/relationships/slide" Target="/ppt/slides/slide2.xml" Id="R38942d7656e54913" /><Relationship Type="http://schemas.openxmlformats.org/officeDocument/2006/relationships/slide" Target="/ppt/slides/slide3.xml" Id="R4eb7aff34ed0406b" /><Relationship Type="http://schemas.openxmlformats.org/officeDocument/2006/relationships/slide" Target="/ppt/slides/slide4.xml" Id="R84a4b738fc2b4b6c" /><Relationship Type="http://schemas.openxmlformats.org/officeDocument/2006/relationships/slide" Target="/ppt/slides/slide5.xml" Id="R4dd8bcf23f124e81" /><Relationship Type="http://schemas.openxmlformats.org/officeDocument/2006/relationships/slide" Target="/ppt/slides/slide6.xml" Id="R556470dbf344453f" /><Relationship Type="http://schemas.openxmlformats.org/officeDocument/2006/relationships/slide" Target="/ppt/slides/slide7.xml" Id="R09245321641e4e6d" /><Relationship Type="http://schemas.openxmlformats.org/officeDocument/2006/relationships/slide" Target="/ppt/slides/slide8.xml" Id="Rf94b338cdeeb40f5" /><Relationship Type="http://schemas.openxmlformats.org/officeDocument/2006/relationships/slide" Target="/ppt/slides/slide9.xml" Id="Rb5ca181f43104907" /><Relationship Type="http://schemas.openxmlformats.org/officeDocument/2006/relationships/slide" Target="/ppt/slides/slide10.xml" Id="Rb2e1bb71f7ec4637" /><Relationship Type="http://schemas.openxmlformats.org/officeDocument/2006/relationships/slide" Target="/ppt/slides/slide11.xml" Id="Rc2b3cf4fc6714f19" /><Relationship Type="http://schemas.openxmlformats.org/officeDocument/2006/relationships/slide" Target="/ppt/slides/slide12.xml" Id="R3b1b758343e04393" /><Relationship Type="http://schemas.openxmlformats.org/officeDocument/2006/relationships/slide" Target="/ppt/slides/slide13.xml" Id="R9009070956884992" /><Relationship Type="http://schemas.openxmlformats.org/officeDocument/2006/relationships/slide" Target="/ppt/slides/slide14.xml" Id="R93e6a1759d2445ce" /><Relationship Type="http://schemas.openxmlformats.org/officeDocument/2006/relationships/slide" Target="/ppt/slides/slide15.xml" Id="Rfbd3170f2e414e1b" /><Relationship Type="http://schemas.openxmlformats.org/officeDocument/2006/relationships/slide" Target="/ppt/slides/slide16.xml" Id="R6cee298d9afd46a2" /><Relationship Type="http://schemas.openxmlformats.org/officeDocument/2006/relationships/slide" Target="/ppt/slides/slide17.xml" Id="R21340f72a0694a1e" /><Relationship Type="http://schemas.openxmlformats.org/officeDocument/2006/relationships/slide" Target="/ppt/slides/slide18.xml" Id="R116c28e1337d42a2" /><Relationship Type="http://schemas.openxmlformats.org/officeDocument/2006/relationships/slide" Target="/ppt/slides/slide19.xml" Id="Rb1e66b420ae64f75" /><Relationship Type="http://schemas.openxmlformats.org/officeDocument/2006/relationships/slide" Target="/ppt/slides/slide20.xml" Id="R35395ab5935a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8dd80625d5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a04048cad4e9f" /><Relationship Type="http://schemas.openxmlformats.org/officeDocument/2006/relationships/notesMaster" Target="/ppt/notesMasters/notesMaster1.xml" Id="Redd59d18a76549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d4034c3b342ba" /><Relationship Type="http://schemas.openxmlformats.org/officeDocument/2006/relationships/notesMaster" Target="/ppt/notesMasters/notesMaster1.xml" Id="Rb8409ddf5557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f16e8f461e4e06" /><Relationship Type="http://schemas.openxmlformats.org/officeDocument/2006/relationships/notesMaster" Target="/ppt/notesMasters/notesMaster1.xml" Id="R2476e40d003d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efd076d9d34344" /><Relationship Type="http://schemas.openxmlformats.org/officeDocument/2006/relationships/notesMaster" Target="/ppt/notesMasters/notesMaster1.xml" Id="Rfab64e45ef7944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411d3514f4a0b" /><Relationship Type="http://schemas.openxmlformats.org/officeDocument/2006/relationships/notesMaster" Target="/ppt/notesMasters/notesMaster1.xml" Id="Rc493ade6839841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80fc37d464d08" /><Relationship Type="http://schemas.openxmlformats.org/officeDocument/2006/relationships/notesMaster" Target="/ppt/notesMasters/notesMaster1.xml" Id="Rea466ae2cb9a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6ae7cdedaa4ab7" /><Relationship Type="http://schemas.openxmlformats.org/officeDocument/2006/relationships/notesMaster" Target="/ppt/notesMasters/notesMaster1.xml" Id="R926a26e2ac774b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80e5e54c7c44e8" /><Relationship Type="http://schemas.openxmlformats.org/officeDocument/2006/relationships/notesMaster" Target="/ppt/notesMasters/notesMaster1.xml" Id="R8e0583f719e5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cfb5dc9d248c2" /><Relationship Type="http://schemas.openxmlformats.org/officeDocument/2006/relationships/notesMaster" Target="/ppt/notesMasters/notesMaster1.xml" Id="R5e92efa1576c44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9ffa20d2f64024" /><Relationship Type="http://schemas.openxmlformats.org/officeDocument/2006/relationships/notesMaster" Target="/ppt/notesMasters/notesMaster1.xml" Id="Rce0b40de0dc24f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4ceac48c7049e5" /><Relationship Type="http://schemas.openxmlformats.org/officeDocument/2006/relationships/notesMaster" Target="/ppt/notesMasters/notesMaster1.xml" Id="R40d2dd2bab7448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86a4bf0ea84d8f" /><Relationship Type="http://schemas.openxmlformats.org/officeDocument/2006/relationships/notesMaster" Target="/ppt/notesMasters/notesMaster1.xml" Id="Rdd5b0f912dba4a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a70bc3a87744f7" /><Relationship Type="http://schemas.openxmlformats.org/officeDocument/2006/relationships/notesMaster" Target="/ppt/notesMasters/notesMaster1.xml" Id="R29465cd3813c47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a982aff01d408b" /><Relationship Type="http://schemas.openxmlformats.org/officeDocument/2006/relationships/notesMaster" Target="/ppt/notesMasters/notesMaster1.xml" Id="Reac8469516d44c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45cc132f7f4a82" /><Relationship Type="http://schemas.openxmlformats.org/officeDocument/2006/relationships/notesMaster" Target="/ppt/notesMasters/notesMaster1.xml" Id="Rc769f23e9e1743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8bf77585204ea8" /><Relationship Type="http://schemas.openxmlformats.org/officeDocument/2006/relationships/notesMaster" Target="/ppt/notesMasters/notesMaster1.xml" Id="Rb14df638726347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e57cc1c6e24144" /><Relationship Type="http://schemas.openxmlformats.org/officeDocument/2006/relationships/notesMaster" Target="/ppt/notesMasters/notesMaster1.xml" Id="R73ecf23a586845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0c9d1e124f48ae" /><Relationship Type="http://schemas.openxmlformats.org/officeDocument/2006/relationships/notesMaster" Target="/ppt/notesMasters/notesMaster1.xml" Id="Re99dc6417f3c49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a9f8daeb074a3e" /><Relationship Type="http://schemas.openxmlformats.org/officeDocument/2006/relationships/notesMaster" Target="/ppt/notesMasters/notesMaster1.xml" Id="R0c42e9c4a74f48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7d237ac0ea425d" /><Relationship Type="http://schemas.openxmlformats.org/officeDocument/2006/relationships/notesMaster" Target="/ppt/notesMasters/notesMaster1.xml" Id="R6d40c6ec61d8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项目定位。当前完成的是可实际操作的工程原型：在河南六城精选资料上，将自然语言需求、候选分日、人工编辑、交通核算与条件检查串成一个流程。网站已实测调用讯飞星火X2.5。团队名称、成员与指导教师未获核实，本版不填入未确认人员信息。比赛类别仍写拟报，最终以报名系统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2026-10-03在线实测输入建立统一案例，不把它描述为访谈引语。目标用户先聚焦有目的地想法、需要短途排程的高校学生与年轻旅行者。痛点是待验证的设计判断，不是已完成的市场调研结论。后续所有案例保持相同方向与同一四站候选，避免混合不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数字取自当前README与henan.json。精选资料不是实时全量旅游数据库。美食和住宿经高德查询，高德不可用时保留精选内容，不生成虚构店名、酒店、营业信息或照片。照片的作者、许可及修改情况都保存在资料来源区和README中。模型只使用目录中的地点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浏览器展示候选时保留现有草稿。用户明确点击替换才应用候选，并将费用重置为待填以避免沿用旧行程费用。已完成体验记录保留。页面最多保留20步撤销，服务端保存最新版本，未实现服务器历史版本。流程图为可编辑原生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这是当前网站首页截图，模型已配置并在调用后显示实际来源。三条路线是可编辑示例，不是已售旅游商品。实景与概念插画有明确区别。首页截图中的真实照片：白马寺，A1AA1A，CC0 1.0；龙门石窟，Gary Todd，CC0 1.0；云台山，Gary Todd，CC0 1.0。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>图片出处：https://commons.wikimedia.org/wiki/File:%E7%99%BD%E9%A9%AC%E5%AF%BA-White_Horse_Temple.jpg</a:t>
            </a:r>
          </a:p>
          <a:p xmlns:a="http://schemas.openxmlformats.org/drawingml/2006/main">
            <a:r>
              <a:t>https://commons.wikimedia.org/wiki/File:Vairocana,_Fengxian_Temple,_Longmen_Grottoes_(10240207654).jpg</a:t>
            </a:r>
          </a:p>
          <a:p xmlns:a="http://schemas.openxmlformats.org/drawingml/2006/main">
            <a:r>
              <a:t>https://commons.wikimedia.org/wiki/File:2018_Yuntai_Mountain_Red-stone_Gorge_02.jpg</a:t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2026-10-03 14:41 UTC，在线网站实测输入：“洛阳周末两天，人均预算300元，只坐公交，想看博物馆，每天6小时，不跨城”。弹窗来源标签显示“讯飞星火X2.5需求提取”。用户未指定休息时长，界面提供30分钟默认值，须由用户确认，不应宣称模型从原句提取了休息时长。预算300元是用户目标，不是查得价格。仅本次端到端案例验证成功，不推导通用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在线模型需求确认后生成的候选：第一天洛阳博物馆120分钟与龙门石窟180分钟，第二天白马寺120分钟与洛邑古城90分钟。网站显示模型来源讯飞星火X2.5。候选中的地点来自精选目录，程序完成校验后展示。预览阶段顶部原草稿仍为5站，点击“用候选行程替换当前草稿”后变为4站。此时0项冲突、3项待确认，待确认为两天交通与预算，不能据此认定行程可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2026-10-03 14:45 UTC，在线操作先核对地点和入口，第一天确认洛阳博物馆（聂泰路6号）到龙门石窟大石门检票口（龙门中街13号北侧）。高德公交/地铁返回14.9公里、76分钟。方向不可颠倒。交通是查询时估计，不含景区内部交通、排队与预约。截图保留高德署名。支持驾车、步行、同城公交，每天2—9点，跨城公共交通需另行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>接口与地图：高德地图，截图为网站实际调用，不是绘制的示意地图。</a:t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可复核算式：洛阳博物馆120 + 龙门石窟180 + 休息30 + 公交76 = 406分钟，用户上限360分钟，超出46分钟。核算前为0冲突3待确认，核算第一天后为1冲突2待确认。剩余待确认是第二天交通与费用。这个案例展示了模型候选不能保证可行、真实交通会改变检查结论。它不证明系统已找到最优路线，后续需用户调整后重新核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日期与单日重排由共享决策逻辑和结果校验保护。单日操作只改变目标日期，保留其他天的地点、顺序和停留时长。每日时长上限属于规划评分目标，规则的软惩罚不能确保总负荷满足上限。本次在线实测将洛阳博物馆停留由120改为90分钟，再使用撤销恢复120分钟，交通结果同步变为待核算。另将白马寺固定在第2天，尝试把总天数缩为1天时，页面明确拒绝并保留2天。上一页的46分钟冲突没有在此页声称已经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五项均允许未知值，未填项目不会当作零费用判定全部满足。如果已填写部分费用合计超过目标，也会提示冲突。交通缓存只在本页面保存，30分钟后在时间线、地图、总览与检查页统一失效。修改路线后重新查询。检查仅针对提供的数据，预约、营业时间、无障碍和景区内部交通未集成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模型接入讯飞MaaS spark-x2.5。请求使用官方已说明的chat/completions参数，读取最终content，解析JSON后验证结构与业务约束。地点选取来自精选目录，不允许模型提供虚构目录ID。规则按城市与相对位置组织地点，再考虑每日游览负荷与休息分日。模型或规则得到的候选均应接受校验，不能绕过用户确认或直接写草稿。完整数字与明确否定条件在工程测试中有单独用例，有限用例通过不能等同于自然语言理解全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>官方接口说明：https://www.xfyun.cn/doc/spark/推理服务-http.html</a:t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文件app.html、journey.js、showcase.js、decision.js、decision-core.mjs、server.mjs和henan.json经构建组装。decision-core.mjs在浏览器、服务端与离线版共享，减少校验口径分叉。D1绑定DB，迁移由部署流程应用，运行时不建表。草稿API只接受平台注入的认证用户身份。高德代理采用固定上游白名单。浏览器地图JS Key与高德安全密钥不是同一项，不能宣称浏览器完全不接收地图Key。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2026-10-03 14:56—14:58 UTC，v11另一次在线需求识别成功，但候选请求达到25秒超时，页面明确显示规则回退及原因。规则候选顺序为龙门石窟、洛阳博物馆和洛邑古城、白马寺。此请求与前面76分钟公交案例不同，不能拼接成一次成功调用。公共演示开启时需D1 model_usage表。默认每日总调用尝试120次、客户端10次，失败也扣次数，不重试模型。客户端由服务端IP加盐哈希识别，原IP不入库，7天清理。IP缺失时共享额度，因此不是强账户配额。同IP用户可能共享限制。LLM_MAX_TOKENS=4096是请求参数，不是包括思考token在内的账单硬上限。所有回退必须暴露实际source和原因，不能把规则输出标成模型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使用平台认证身份保存，不能把本地测试认证头描述为自建登录系统。最新草稿在D1保存，页面撤销最多20步，未提供服务端历史版本。离线文件嵌入11张照片和全部精选目录，无需联网即可展示与编辑，可导入导出JSON。行程及体验记录导出只包含必要字段。正式部署仍需持续检查账户隔离、异常恢复和并发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2026-10-03，源码版本a4a3bb19测试：7组原始脚本、66项回归、14项模拟配额和12项新增边界用例通过。新增边界涉及小数与复合预算表达、复合否定、跨日交通未知和以整数分计算费用。v11于14:54 UTC发布到同一在线地址。需求识别、候选与76分钟公交的截图记录于此前版本v10，相关操作流程保持一致，之后在线补充编辑、撤销和固定日期保护验证。</a:t>
            </a:r>
          </a:p>
          <a:p xmlns:a="http://schemas.openxmlformats.org/drawingml/2006/main">
            <a:r>
              <a:t>在线案例与模拟测试具有不同证明范围。模拟额度测试不能替代生产长期监控，一次在线成功也不能证明稳定性。当前没有正式用户研究样本或可用的效率提升数据。运行脚本、环境、版本与原始输出详见测试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—20人是拟开展的小范围形成性任务测试，不是已招募人数或统计代表性样本。建议在知情同意下使用同等难度任务，交替任务顺序，完整保留未完成和失败记录，报告中位数、分布和典型问题，而不只展示最好案例。项目内置体验记录包含计时、编辑数、评分、文字反馈与未确认项，最多保留最近20条完成记录。比较基线用时为用户自行填写，因此正式对比应规范计时方式，不将自行报告值与精确自动计时直接解释为因果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差异化主张是围绕一次旅行修改，把自然语言条件、用户控制、真实交通与未知项提示连接起来。不能未经研究断言所有竞品都没有行程功能，也不应使用行业旅游总量直接推导项目收入。先免费小范围试点，测量任务完成、问题类型与复用意愿。商业模式与合作渠道需要后续访谈和真实合作验证，现阶段不虚构客户、合同、收入或用户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用户提供比赛说明中的11月27日前提交安排，最终需在报名系统核对。10月3日已经完成网站X2.5在线需求提取、候选生成、明确载入及高德公交核算案例，不再将模型网站联调写为未来工作。团队与指导教师信息未核实，不能虚构。路线图为实施计划，不是承诺已完成的里程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建议按统一洛阳案例依次展示：输入需求、确认条件、候选预览、点击替换、入口确认、交通核算与超时提示。模型可能因额度或异常回退规则，演示时应让来源标签可见，不掩盖回退。在线服务需要联网，断网时使用离线文件展示已支持功能。请在比赛前再次检查账号、接口额度和网络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项目来源：2026-10-03发布版本v11，提交a4a3bb19。作者源文件 README.md、decision-core.mjs、decision.js、server.mjs 及配套测试记录。在线演示：https://roam-map-planner.dangqihan7.chatgpt.site/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背景沿用原稿AI生成概念插画，不是景点实景。工程状态以本页注明的验证范围为准，未开展正式用户研究。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732fde6694b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4ff9b5a6cd4326" /><Relationship Type="http://schemas.openxmlformats.org/officeDocument/2006/relationships/slideLayout" Target="/ppt/slideLayouts/slideLayout1.xml" Id="R46c6e9f30be2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6e9f30be2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e64df27934865" /><Relationship Type="http://schemas.openxmlformats.org/officeDocument/2006/relationships/image" Target="/ppt/media/image.jpeg" Id="R984ff08e21e245eb" /><Relationship Type="http://schemas.openxmlformats.org/officeDocument/2006/relationships/notesSlide" Target="/ppt/notesSlides/notesSlide1.xml" Id="R18ac402be2b8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aeeef2f294d13" /><Relationship Type="http://schemas.openxmlformats.org/officeDocument/2006/relationships/image" Target="/ppt/media/image2.jpeg" Id="Ra4caf2bb16cf473b" /><Relationship Type="http://schemas.openxmlformats.org/officeDocument/2006/relationships/notesSlide" Target="/ppt/notesSlides/notesSlide2.xml" Id="R736f7bc084e946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4a52d6feb4cc6" /><Relationship Type="http://schemas.openxmlformats.org/officeDocument/2006/relationships/image" Target="/ppt/media/image3.jpeg" Id="Rb55309e587dd4da6" /><Relationship Type="http://schemas.openxmlformats.org/officeDocument/2006/relationships/notesSlide" Target="/ppt/notesSlides/notesSlide3.xml" Id="Ra28036ddd03e4b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f74e9012e44be" /><Relationship Type="http://schemas.openxmlformats.org/officeDocument/2006/relationships/image" Target="/ppt/media/image4.jpeg" Id="Rf2a5b3abbd274468" /><Relationship Type="http://schemas.openxmlformats.org/officeDocument/2006/relationships/notesSlide" Target="/ppt/notesSlides/notesSlide4.xml" Id="R7a241a19e697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5f9aeed034245" /><Relationship Type="http://schemas.openxmlformats.org/officeDocument/2006/relationships/image" Target="/ppt/media/image5.jpeg" Id="R7258dce5c6aa4654" /><Relationship Type="http://schemas.openxmlformats.org/officeDocument/2006/relationships/image" Target="/ppt/media/image6.jpeg" Id="R30415be02be14266" /><Relationship Type="http://schemas.openxmlformats.org/officeDocument/2006/relationships/notesSlide" Target="/ppt/notesSlides/notesSlide5.xml" Id="Ra09f919848a2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4dc3693564bc0" /><Relationship Type="http://schemas.openxmlformats.org/officeDocument/2006/relationships/image" Target="/ppt/media/image7.jpeg" Id="R87619b571fde4430" /><Relationship Type="http://schemas.openxmlformats.org/officeDocument/2006/relationships/image" Target="/ppt/media/image8.jpeg" Id="R019305855fd54418" /><Relationship Type="http://schemas.openxmlformats.org/officeDocument/2006/relationships/notesSlide" Target="/ppt/notesSlides/notesSlide6.xml" Id="R471d8bb7454341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7efa754074fa1" /><Relationship Type="http://schemas.openxmlformats.org/officeDocument/2006/relationships/image" Target="/ppt/media/image9.jpeg" Id="Rf0522f1f05924a2e" /><Relationship Type="http://schemas.openxmlformats.org/officeDocument/2006/relationships/image" Target="/ppt/media/image10.jpeg" Id="Rab3e8d2f282d484e" /><Relationship Type="http://schemas.openxmlformats.org/officeDocument/2006/relationships/notesSlide" Target="/ppt/notesSlides/notesSlide7.xml" Id="R07d7882ec5264f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53c5fac1c424c" /><Relationship Type="http://schemas.openxmlformats.org/officeDocument/2006/relationships/image" Target="/ppt/media/image11.jpeg" Id="R1653c738c1384e49" /><Relationship Type="http://schemas.openxmlformats.org/officeDocument/2006/relationships/image" Target="/ppt/media/image12.jpeg" Id="R7e375cc0729a4538" /><Relationship Type="http://schemas.openxmlformats.org/officeDocument/2006/relationships/notesSlide" Target="/ppt/notesSlides/notesSlide8.xml" Id="R88620537c6b048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7c70f9b6a425b" /><Relationship Type="http://schemas.openxmlformats.org/officeDocument/2006/relationships/image" Target="/ppt/media/image13.jpeg" Id="Re2a7d46f0bfd45b0" /><Relationship Type="http://schemas.openxmlformats.org/officeDocument/2006/relationships/image" Target="/ppt/media/image14.jpeg" Id="R37482e688e48453d" /><Relationship Type="http://schemas.openxmlformats.org/officeDocument/2006/relationships/notesSlide" Target="/ppt/notesSlides/notesSlide9.xml" Id="Re4957d2c494a46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1e84638f34a7f" /><Relationship Type="http://schemas.openxmlformats.org/officeDocument/2006/relationships/image" Target="/ppt/media/image15.jpeg" Id="R1a8eaf74a9154de8" /><Relationship Type="http://schemas.openxmlformats.org/officeDocument/2006/relationships/image" Target="/ppt/media/image16.jpeg" Id="R5d797b432c9c4166" /><Relationship Type="http://schemas.openxmlformats.org/officeDocument/2006/relationships/notesSlide" Target="/ppt/notesSlides/notesSlide10.xml" Id="R53dd4656e6f447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9637428214331" /><Relationship Type="http://schemas.openxmlformats.org/officeDocument/2006/relationships/image" Target="/ppt/media/image17.jpeg" Id="Rf224d29cc1044f14" /><Relationship Type="http://schemas.openxmlformats.org/officeDocument/2006/relationships/notesSlide" Target="/ppt/notesSlides/notesSlide11.xml" Id="Rd73a9a09ec0d4b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e36a52b0a43c1" /><Relationship Type="http://schemas.openxmlformats.org/officeDocument/2006/relationships/image" Target="/ppt/media/image18.jpeg" Id="Rb2d147b0708e4812" /><Relationship Type="http://schemas.openxmlformats.org/officeDocument/2006/relationships/notesSlide" Target="/ppt/notesSlides/notesSlide12.xml" Id="R65b68b0dea5f4c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ddd133fc34fad" /><Relationship Type="http://schemas.openxmlformats.org/officeDocument/2006/relationships/image" Target="/ppt/media/image19.jpeg" Id="R67294af5e16f49bb" /><Relationship Type="http://schemas.openxmlformats.org/officeDocument/2006/relationships/notesSlide" Target="/ppt/notesSlides/notesSlide13.xml" Id="R7b0c0b9f080543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d7f04f7a24e3e" /><Relationship Type="http://schemas.openxmlformats.org/officeDocument/2006/relationships/image" Target="/ppt/media/image20.jpeg" Id="Ra3ff1ff7f9274185" /><Relationship Type="http://schemas.openxmlformats.org/officeDocument/2006/relationships/notesSlide" Target="/ppt/notesSlides/notesSlide14.xml" Id="Rf2ef59ebcc284d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e88080e34ecf" /><Relationship Type="http://schemas.openxmlformats.org/officeDocument/2006/relationships/image" Target="/ppt/media/image21.jpeg" Id="Re0eeaf826c1d484a" /><Relationship Type="http://schemas.openxmlformats.org/officeDocument/2006/relationships/notesSlide" Target="/ppt/notesSlides/notesSlide15.xml" Id="R380bc42e891c44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bc2a99ef4c29" /><Relationship Type="http://schemas.openxmlformats.org/officeDocument/2006/relationships/image" Target="/ppt/media/image22.jpeg" Id="Rf6cf4296838543b8" /><Relationship Type="http://schemas.openxmlformats.org/officeDocument/2006/relationships/notesSlide" Target="/ppt/notesSlides/notesSlide16.xml" Id="R3ac872e81f974e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8e1b25bf3465b" /><Relationship Type="http://schemas.openxmlformats.org/officeDocument/2006/relationships/image" Target="/ppt/media/image23.jpeg" Id="R138eb289123d48bf" /><Relationship Type="http://schemas.openxmlformats.org/officeDocument/2006/relationships/notesSlide" Target="/ppt/notesSlides/notesSlide17.xml" Id="Ra9231b41a89a49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d85548c9a4708" /><Relationship Type="http://schemas.openxmlformats.org/officeDocument/2006/relationships/image" Target="/ppt/media/image24.jpeg" Id="R5eaebedc53e24db7" /><Relationship Type="http://schemas.openxmlformats.org/officeDocument/2006/relationships/notesSlide" Target="/ppt/notesSlides/notesSlide18.xml" Id="R2ba6c9a3f5be4b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d1c02c9ef4149" /><Relationship Type="http://schemas.openxmlformats.org/officeDocument/2006/relationships/image" Target="/ppt/media/image25.jpeg" Id="R030e3e0bfe70495e" /><Relationship Type="http://schemas.openxmlformats.org/officeDocument/2006/relationships/notesSlide" Target="/ppt/notesSlides/notesSlide19.xml" Id="R9b65f1aeef5d4b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cebdcf2a44462" /><Relationship Type="http://schemas.openxmlformats.org/officeDocument/2006/relationships/image" Target="/ppt/media/image26.jpeg" Id="Rc90bf5fca6c24825" /><Relationship Type="http://schemas.openxmlformats.org/officeDocument/2006/relationships/hyperlink" Target="https://roam-map-planner.dangqihan7.chatgpt.site/" TargetMode="External" Id="Rfa972bf0d80d420e" /><Relationship Type="http://schemas.openxmlformats.org/officeDocument/2006/relationships/notesSlide" Target="/ppt/notesSlides/notesSlide20.xml" Id="R5b5bae75b3c949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ff08e21e245e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河南工业大学  ·  第三届“讯飞杯”AI+创新应用大赛">
            <a:extLst xmlns:a="http://schemas.openxmlformats.org/drawingml/2006/main">
              <a:ext uri="{FF2B5EF4-FFF2-40B4-BE49-F238E27FC236}">
                <a16:creationId xmlns:a16="http://schemas.microsoft.com/office/drawing/2014/main" id="{04E78615-C6C3-46C5-95F7-83FDEA0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河南工业大学  ·  第三届“讯飞杯”AI+创新应用大赛</a:t>
            </a:r>
          </a:p>
        </p:txBody>
      </p:sp>
      <p:sp>
        <p:nvSpPr>
          <p:cNvPr id="3" name="豫见行迹">
            <a:extLst xmlns:a="http://schemas.openxmlformats.org/drawingml/2006/main">
              <a:ext uri="{FF2B5EF4-FFF2-40B4-BE49-F238E27FC236}">
                <a16:creationId xmlns:a16="http://schemas.microsoft.com/office/drawing/2014/main" id="{8505709A-05B7-4515-8B12-8CB06682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55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豫见行迹</a:t>
            </a:r>
          </a:p>
        </p:txBody>
      </p:sp>
      <p:sp>
        <p:nvSpPr>
          <p:cNvPr id="4" name="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91A8F0B2-2E85-4F77-A2C6-BCF13A8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95650"/>
            <a:ext cx="704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河南周末游决策助手</a:t>
            </a:r>
          </a:p>
        </p:txBody>
      </p:sp>
      <p:sp>
        <p:nvSpPr>
          <p:cNvPr id="5" name="旅行条件可确认，候选行程可修改，&#10;时间与预算有据可查">
            <a:extLst xmlns:a="http://schemas.openxmlformats.org/drawingml/2006/main">
              <a:ext uri="{FF2B5EF4-FFF2-40B4-BE49-F238E27FC236}">
                <a16:creationId xmlns:a16="http://schemas.microsoft.com/office/drawing/2014/main" id="{31B30A38-83AC-40B2-9AA3-18C71C23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338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0E0E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D0E0E5"/>
                </a:solidFill>
                <a:latin typeface="Noto Sans SC"/>
                <a:ea typeface="Noto Sans SC"/>
                <a:cs typeface="Noto Sans SC"/>
              </a:rPr>
              <a:t>旅行条件可确认，候选行程可修改，</a:t>
            </a:r>
          </a:p>
          <a:p xmlns:a="http://schemas.openxmlformats.org/drawingml/2006/main">
            <a:pPr algn="l">
              <a:defRPr sz="1950" b="0">
                <a:solidFill>
                  <a:srgbClr val="D0E0E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D0E0E5"/>
                </a:solidFill>
                <a:latin typeface="Noto Sans SC"/>
                <a:ea typeface="Noto Sans SC"/>
                <a:cs typeface="Noto Sans SC"/>
              </a:rPr>
              <a:t>时间与预算有据可查</a:t>
            </a:r>
          </a:p>
        </p:txBody>
      </p:sp>
      <p:sp>
        <p:nvSpPr>
          <p:cNvPr id="6" name="拟报 AI+城市   /   工程验证版   /   2026.10.03">
            <a:extLst xmlns:a="http://schemas.openxmlformats.org/drawingml/2006/main">
              <a:ext uri="{FF2B5EF4-FFF2-40B4-BE49-F238E27FC236}">
                <a16:creationId xmlns:a16="http://schemas.microsoft.com/office/drawing/2014/main" id="{FED69947-B051-4578-82E8-7ACEE71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435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拟报 AI+城市   /   工程验证版   /   2026.10.03</a:t>
            </a:r>
          </a:p>
        </p:txBody>
      </p:sp>
      <p:sp>
        <p:nvSpPr>
          <p:cNvPr id="7" name="概念插画">
            <a:extLst xmlns:a="http://schemas.openxmlformats.org/drawingml/2006/main">
              <a:ext uri="{FF2B5EF4-FFF2-40B4-BE49-F238E27FC236}">
                <a16:creationId xmlns:a16="http://schemas.microsoft.com/office/drawing/2014/main" id="{8832BEE5-877D-416B-BABF-720783B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C4C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EC4CC"/>
                </a:solidFill>
                <a:latin typeface="Noto Sans SC"/>
                <a:ea typeface="Noto Sans SC"/>
                <a:cs typeface="Noto Sans SC"/>
              </a:rPr>
              <a:t>概念插画</a:t>
            </a:r>
          </a:p>
        </p:txBody>
      </p:sp>
    </p:spTree>
    <p:extLst>
      <p:ext uri="{BB962C8B-B14F-4D97-AF65-F5344CB8AC3E}">
        <p14:creationId xmlns:p14="http://schemas.microsoft.com/office/powerpoint/2010/main" val="1621762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af2bb16cf473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1  /  旅行任务">
            <a:extLst xmlns:a="http://schemas.openxmlformats.org/drawingml/2006/main">
              <a:ext uri="{FF2B5EF4-FFF2-40B4-BE49-F238E27FC236}">
                <a16:creationId xmlns:a16="http://schemas.microsoft.com/office/drawing/2014/main" id="{77026929-62E4-411D-A2B7-431693A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01  /  旅行任务</a:t>
            </a:r>
          </a:p>
        </p:txBody>
      </p:sp>
      <p:sp>
        <p:nvSpPr>
          <p:cNvPr id="3" name="两天的旅行计划，需要反复核对条件">
            <a:extLst xmlns:a="http://schemas.openxmlformats.org/drawingml/2006/main">
              <a:ext uri="{FF2B5EF4-FFF2-40B4-BE49-F238E27FC236}">
                <a16:creationId xmlns:a16="http://schemas.microsoft.com/office/drawing/2014/main" id="{323C67EB-00AB-4A28-A501-E1B21250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两天的旅行计划，需要反复核对条件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A4B86-896D-42AB-A863-3BCAFE8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8F7284C4-4675-4CBC-A78F-047D3C72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2 / 20">
            <a:extLst xmlns:a="http://schemas.openxmlformats.org/drawingml/2006/main">
              <a:ext uri="{FF2B5EF4-FFF2-40B4-BE49-F238E27FC236}">
                <a16:creationId xmlns:a16="http://schemas.microsoft.com/office/drawing/2014/main" id="{2C386926-EC1B-4585-BFA7-88371EF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02 / 20</a:t>
            </a:r>
          </a:p>
        </p:txBody>
      </p:sp>
      <p:sp>
        <p:nvSpPr>
          <p:cNvPr id="7" name="“洛阳周末两天，人均预算300元，只坐公交，&#10;想看博物馆，每天6小时，不跨城”">
            <a:extLst xmlns:a="http://schemas.openxmlformats.org/drawingml/2006/main">
              <a:ext uri="{FF2B5EF4-FFF2-40B4-BE49-F238E27FC236}">
                <a16:creationId xmlns:a16="http://schemas.microsoft.com/office/drawing/2014/main" id="{77A4C26E-67FB-4E21-AC37-848D3D6A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“洛阳周末两天，人均预算300元，只坐公交，</a:t>
            </a:r>
          </a:p>
          <a:p xmlns:a="http://schemas.openxmlformats.org/drawingml/2006/main">
            <a:pPr algn="l">
              <a:defRPr sz="24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想看博物馆，每天6小时，不跨城”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4A6FE6C7-2B2C-4D31-9F2E-311599F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条件表达">
            <a:extLst xmlns:a="http://schemas.openxmlformats.org/drawingml/2006/main">
              <a:ext uri="{FF2B5EF4-FFF2-40B4-BE49-F238E27FC236}">
                <a16:creationId xmlns:a16="http://schemas.microsoft.com/office/drawing/2014/main" id="{62F25F08-9154-4887-B796-B3524016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条件表达</a:t>
            </a:r>
          </a:p>
        </p:txBody>
      </p:sp>
      <p:sp>
        <p:nvSpPr>
          <p:cNvPr id="10" name="目的地、交通、预算和体力限制分散在一句话里。">
            <a:extLst xmlns:a="http://schemas.openxmlformats.org/drawingml/2006/main">
              <a:ext uri="{FF2B5EF4-FFF2-40B4-BE49-F238E27FC236}">
                <a16:creationId xmlns:a16="http://schemas.microsoft.com/office/drawing/2014/main" id="{F8B54CE3-041E-44DC-8790-807B40F3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733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目的地、交通、预算和体力限制分散在一句话里。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C45F9-2F7C-498F-891C-66F30797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BDADE"/>
            </a:solidFill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9D3AD71F-FC13-4D33-8814-431F3A41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4812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时间核算">
            <a:extLst xmlns:a="http://schemas.openxmlformats.org/drawingml/2006/main">
              <a:ext uri="{FF2B5EF4-FFF2-40B4-BE49-F238E27FC236}">
                <a16:creationId xmlns:a16="http://schemas.microsoft.com/office/drawing/2014/main" id="{1EE10CE8-3428-45A2-9F35-4D5245AF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48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时间核算</a:t>
            </a:r>
          </a:p>
        </p:txBody>
      </p:sp>
      <p:sp>
        <p:nvSpPr>
          <p:cNvPr id="14" name="游览、休息与站间交通都占用当天时间。">
            <a:extLst xmlns:a="http://schemas.openxmlformats.org/drawingml/2006/main">
              <a:ext uri="{FF2B5EF4-FFF2-40B4-BE49-F238E27FC236}">
                <a16:creationId xmlns:a16="http://schemas.microsoft.com/office/drawing/2014/main" id="{3DF74E69-0253-4646-88AE-6735F13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733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游览、休息与站间交通都占用当天时间。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30EF1-A657-41E3-98E3-525A3001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BDADE"/>
            </a:solidFill>
          </a:ln>
        </p:spPr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539B3F54-4F84-421E-8268-4050602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91100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修改影响">
            <a:extLst xmlns:a="http://schemas.openxmlformats.org/drawingml/2006/main">
              <a:ext uri="{FF2B5EF4-FFF2-40B4-BE49-F238E27FC236}">
                <a16:creationId xmlns:a16="http://schemas.microsoft.com/office/drawing/2014/main" id="{54D36F15-883E-4BBD-9FBC-A0729AA1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91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修改影响</a:t>
            </a:r>
          </a:p>
        </p:txBody>
      </p:sp>
      <p:sp>
        <p:nvSpPr>
          <p:cNvPr id="18" name="换日期、换顺序后，原交通结果和检查结论可能过时。">
            <a:extLst xmlns:a="http://schemas.openxmlformats.org/drawingml/2006/main">
              <a:ext uri="{FF2B5EF4-FFF2-40B4-BE49-F238E27FC236}">
                <a16:creationId xmlns:a16="http://schemas.microsoft.com/office/drawing/2014/main" id="{291109A2-4B0F-46DB-A456-8FFFDFF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0150"/>
            <a:ext cx="7334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换日期、换顺序后，原交通结果和检查结论可能过时。</a:t>
            </a:r>
          </a:p>
        </p:txBody>
      </p:sp>
    </p:spTree>
    <p:extLst>
      <p:ext uri="{BB962C8B-B14F-4D97-AF65-F5344CB8AC3E}">
        <p14:creationId xmlns:p14="http://schemas.microsoft.com/office/powerpoint/2010/main" val="518572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309e587dd4da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  /  当前范围">
            <a:extLst xmlns:a="http://schemas.openxmlformats.org/drawingml/2006/main">
              <a:ext uri="{FF2B5EF4-FFF2-40B4-BE49-F238E27FC236}">
                <a16:creationId xmlns:a16="http://schemas.microsoft.com/office/drawing/2014/main" id="{A4CD2B0B-0540-4E70-8540-D7816221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02  /  当前范围</a:t>
            </a:r>
          </a:p>
        </p:txBody>
      </p:sp>
      <p:sp>
        <p:nvSpPr>
          <p:cNvPr id="3" name="河南六城的精选内容与真实服务">
            <a:extLst xmlns:a="http://schemas.openxmlformats.org/drawingml/2006/main">
              <a:ext uri="{FF2B5EF4-FFF2-40B4-BE49-F238E27FC236}">
                <a16:creationId xmlns:a16="http://schemas.microsoft.com/office/drawing/2014/main" id="{3F05035D-92B6-491D-AE74-9E368D0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河南六城的精选内容与真实服务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53CDD-955C-44DE-BFC1-E2319DC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2F8BC6A6-01EE-44E6-AB99-AF371BD1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3 / 20">
            <a:extLst xmlns:a="http://schemas.openxmlformats.org/drawingml/2006/main">
              <a:ext uri="{FF2B5EF4-FFF2-40B4-BE49-F238E27FC236}">
                <a16:creationId xmlns:a16="http://schemas.microsoft.com/office/drawing/2014/main" id="{4731CEA2-7C9B-4586-B580-2A7F7CA4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03 / 20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1D726E01-41EC-4299-A8ED-BBAC6ED3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62125"/>
            <a:ext cx="2476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8" name="座城市">
            <a:extLst xmlns:a="http://schemas.openxmlformats.org/drawingml/2006/main">
              <a:ext uri="{FF2B5EF4-FFF2-40B4-BE49-F238E27FC236}">
                <a16:creationId xmlns:a16="http://schemas.microsoft.com/office/drawing/2014/main" id="{B95B3238-7BF6-4085-93BB-1470965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座城市</a:t>
            </a:r>
          </a:p>
        </p:txBody>
      </p:sp>
      <p:sp>
        <p:nvSpPr>
          <p:cNvPr id="9" name="22">
            <a:extLst xmlns:a="http://schemas.openxmlformats.org/drawingml/2006/main">
              <a:ext uri="{FF2B5EF4-FFF2-40B4-BE49-F238E27FC236}">
                <a16:creationId xmlns:a16="http://schemas.microsoft.com/office/drawing/2014/main" id="{810CE41F-EF15-4DE4-945F-8DBE6B6D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476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22</a:t>
            </a:r>
          </a:p>
        </p:txBody>
      </p:sp>
      <p:sp>
        <p:nvSpPr>
          <p:cNvPr id="10" name="个精选地点">
            <a:extLst xmlns:a="http://schemas.openxmlformats.org/drawingml/2006/main">
              <a:ext uri="{FF2B5EF4-FFF2-40B4-BE49-F238E27FC236}">
                <a16:creationId xmlns:a16="http://schemas.microsoft.com/office/drawing/2014/main" id="{6D174EF4-D095-4D30-9542-8A4CEFB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个精选地点</a:t>
            </a:r>
          </a:p>
        </p:txBody>
      </p:sp>
      <p:sp>
        <p:nvSpPr>
          <p:cNvPr id="11" name="3">
            <a:extLst xmlns:a="http://schemas.openxmlformats.org/drawingml/2006/main">
              <a:ext uri="{FF2B5EF4-FFF2-40B4-BE49-F238E27FC236}">
                <a16:creationId xmlns:a16="http://schemas.microsoft.com/office/drawing/2014/main" id="{1AE355B0-996F-43DC-A521-02C0B68D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62125"/>
            <a:ext cx="2476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2" name="条可编辑路线">
            <a:extLst xmlns:a="http://schemas.openxmlformats.org/drawingml/2006/main">
              <a:ext uri="{FF2B5EF4-FFF2-40B4-BE49-F238E27FC236}">
                <a16:creationId xmlns:a16="http://schemas.microsoft.com/office/drawing/2014/main" id="{A6B30160-5638-4AE6-A7BC-B746816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条可编辑路线</a:t>
            </a:r>
          </a:p>
        </p:txBody>
      </p:sp>
      <p:sp>
        <p:nvSpPr>
          <p:cNvPr id="13" name="11">
            <a:extLst xmlns:a="http://schemas.openxmlformats.org/drawingml/2006/main">
              <a:ext uri="{FF2B5EF4-FFF2-40B4-BE49-F238E27FC236}">
                <a16:creationId xmlns:a16="http://schemas.microsoft.com/office/drawing/2014/main" id="{FA933155-5775-4796-835A-2307D09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62125"/>
            <a:ext cx="2476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5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14" name="张实景照片">
            <a:extLst xmlns:a="http://schemas.openxmlformats.org/drawingml/2006/main">
              <a:ext uri="{FF2B5EF4-FFF2-40B4-BE49-F238E27FC236}">
                <a16:creationId xmlns:a16="http://schemas.microsoft.com/office/drawing/2014/main" id="{21BCCF90-735D-4EAA-A18D-FF15282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67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张实景照片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8E142-73B3-4DFA-B4AD-F55EF7F0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A664"/>
            </a:solidFill>
          </a:ln>
        </p:spPr>
      </p:sp>
      <p:sp>
        <p:nvSpPr>
          <p:cNvPr id="16" name="郑州、洛阳、开封、焦作、安阳、三门峡">
            <a:extLst xmlns:a="http://schemas.openxmlformats.org/drawingml/2006/main">
              <a:ext uri="{FF2B5EF4-FFF2-40B4-BE49-F238E27FC236}">
                <a16:creationId xmlns:a16="http://schemas.microsoft.com/office/drawing/2014/main" id="{5FFD4706-8EEA-465D-9550-D984278E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郑州、洛阳、开封、焦作、安阳、三门峡</a:t>
            </a:r>
          </a:p>
        </p:txBody>
      </p:sp>
      <p:sp>
        <p:nvSpPr>
          <p:cNvPr id="17" name="精选目录提供地点与来源，片区坐标用于浏览。&#10;高德提供POI与站间交通，价格和营业状态仍需核实。">
            <a:extLst xmlns:a="http://schemas.openxmlformats.org/drawingml/2006/main">
              <a:ext uri="{FF2B5EF4-FFF2-40B4-BE49-F238E27FC236}">
                <a16:creationId xmlns:a16="http://schemas.microsoft.com/office/drawing/2014/main" id="{9D62595F-CAD8-4C21-AC51-C5E73BB4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精选目录提供地点与来源，片区坐标用于浏览。</a:t>
            </a:r>
          </a:p>
          <a:p xmlns:a="http://schemas.openxmlformats.org/drawingml/2006/main">
            <a:pPr algn="l">
              <a:defRPr sz="20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高德提供POI与站间交通，价格和营业状态仍需核实。</a:t>
            </a:r>
          </a:p>
        </p:txBody>
      </p:sp>
      <p:sp>
        <p:nvSpPr>
          <p:cNvPr id="18" name="当前规模用于验证周末游任务，不代表六城全覆盖">
            <a:extLst xmlns:a="http://schemas.openxmlformats.org/drawingml/2006/main">
              <a:ext uri="{FF2B5EF4-FFF2-40B4-BE49-F238E27FC236}">
                <a16:creationId xmlns:a16="http://schemas.microsoft.com/office/drawing/2014/main" id="{E2C6045C-BD62-47B7-93F4-F31E24F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当前规模用于验证周末游任务，不代表六城全覆盖</a:t>
            </a:r>
          </a:p>
        </p:txBody>
      </p:sp>
    </p:spTree>
    <p:extLst>
      <p:ext uri="{BB962C8B-B14F-4D97-AF65-F5344CB8AC3E}">
        <p14:creationId xmlns:p14="http://schemas.microsoft.com/office/powerpoint/2010/main" val="1085136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5b3abbd27446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3  /  使用流程">
            <a:extLst xmlns:a="http://schemas.openxmlformats.org/drawingml/2006/main">
              <a:ext uri="{FF2B5EF4-FFF2-40B4-BE49-F238E27FC236}">
                <a16:creationId xmlns:a16="http://schemas.microsoft.com/office/drawing/2014/main" id="{DA683719-3C59-4E51-9DFA-9020C8DF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03  /  使用流程</a:t>
            </a:r>
          </a:p>
        </p:txBody>
      </p:sp>
      <p:sp>
        <p:nvSpPr>
          <p:cNvPr id="3" name="用户确认贯穿整个规划过程">
            <a:extLst xmlns:a="http://schemas.openxmlformats.org/drawingml/2006/main">
              <a:ext uri="{FF2B5EF4-FFF2-40B4-BE49-F238E27FC236}">
                <a16:creationId xmlns:a16="http://schemas.microsoft.com/office/drawing/2014/main" id="{B5C036DE-C67D-46E1-9AFF-9D4AEAB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用户确认贯穿整个规划过程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4D76D-BE5A-43ED-9D2C-DE7DF123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8F1FFED4-6954-4D84-A7F7-2850CB4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4 / 20">
            <a:extLst xmlns:a="http://schemas.openxmlformats.org/drawingml/2006/main">
              <a:ext uri="{FF2B5EF4-FFF2-40B4-BE49-F238E27FC236}">
                <a16:creationId xmlns:a16="http://schemas.microsoft.com/office/drawing/2014/main" id="{75DA5A24-9205-48D1-96C7-4964C403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04 / 20</a:t>
            </a:r>
          </a:p>
        </p:txBody>
      </p:sp>
      <p:sp>
        <p:nvSpPr>
          <p:cNvPr id="7" name="描述需求">
            <a:extLst xmlns:a="http://schemas.openxmlformats.org/drawingml/2006/main">
              <a:ext uri="{FF2B5EF4-FFF2-40B4-BE49-F238E27FC236}">
                <a16:creationId xmlns:a16="http://schemas.microsoft.com/office/drawing/2014/main" id="{0CB6FBB7-3C36-471A-8A3A-6219A90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257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8" name="描述需求">
            <a:extLst xmlns:a="http://schemas.openxmlformats.org/drawingml/2006/main">
              <a:ext uri="{FF2B5EF4-FFF2-40B4-BE49-F238E27FC236}">
                <a16:creationId xmlns:a16="http://schemas.microsoft.com/office/drawing/2014/main" id="{33DE75F3-29FB-42D9-8E55-4326045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描述需求</a:t>
            </a:r>
          </a:p>
        </p:txBody>
      </p:sp>
      <p:sp>
        <p:nvSpPr>
          <p:cNvPr id="9" name="自然语言或手动填写">
            <a:extLst xmlns:a="http://schemas.openxmlformats.org/drawingml/2006/main">
              <a:ext uri="{FF2B5EF4-FFF2-40B4-BE49-F238E27FC236}">
                <a16:creationId xmlns:a16="http://schemas.microsoft.com/office/drawing/2014/main" id="{C1162AA2-014B-4867-91B1-DB94800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自然语言或手动填写</a:t>
            </a:r>
          </a:p>
        </p:txBody>
      </p:sp>
      <p:sp>
        <p:nvSpPr>
          <p:cNvPr id="10" name="确认条件">
            <a:extLst xmlns:a="http://schemas.openxmlformats.org/drawingml/2006/main">
              <a:ext uri="{FF2B5EF4-FFF2-40B4-BE49-F238E27FC236}">
                <a16:creationId xmlns:a16="http://schemas.microsoft.com/office/drawing/2014/main" id="{F5A5BA2A-B26B-49C4-8BAE-4109D3C7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47850"/>
            <a:ext cx="3257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1" name="确认条件">
            <a:extLst xmlns:a="http://schemas.openxmlformats.org/drawingml/2006/main">
              <a:ext uri="{FF2B5EF4-FFF2-40B4-BE49-F238E27FC236}">
                <a16:creationId xmlns:a16="http://schemas.microsoft.com/office/drawing/2014/main" id="{8041D74A-BA0B-46A5-B5E2-BCE3E88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确认条件</a:t>
            </a:r>
          </a:p>
        </p:txBody>
      </p:sp>
      <p:sp>
        <p:nvSpPr>
          <p:cNvPr id="12" name="先修正识别结果">
            <a:extLst xmlns:a="http://schemas.openxmlformats.org/drawingml/2006/main">
              <a:ext uri="{FF2B5EF4-FFF2-40B4-BE49-F238E27FC236}">
                <a16:creationId xmlns:a16="http://schemas.microsoft.com/office/drawing/2014/main" id="{264EED47-5D60-4CE9-9817-5267ECE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先修正识别结果</a:t>
            </a:r>
          </a:p>
        </p:txBody>
      </p:sp>
      <p:sp>
        <p:nvSpPr>
          <p:cNvPr id="13" name="查看候选">
            <a:extLst xmlns:a="http://schemas.openxmlformats.org/drawingml/2006/main">
              <a:ext uri="{FF2B5EF4-FFF2-40B4-BE49-F238E27FC236}">
                <a16:creationId xmlns:a16="http://schemas.microsoft.com/office/drawing/2014/main" id="{B79DDE6E-6E2B-4D8D-8BDC-29B7C58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257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4" name="查看候选">
            <a:extLst xmlns:a="http://schemas.openxmlformats.org/drawingml/2006/main">
              <a:ext uri="{FF2B5EF4-FFF2-40B4-BE49-F238E27FC236}">
                <a16:creationId xmlns:a16="http://schemas.microsoft.com/office/drawing/2014/main" id="{297566DA-8964-4A9C-9BB0-BA1F4BD2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查看候选</a:t>
            </a:r>
          </a:p>
        </p:txBody>
      </p:sp>
      <p:sp>
        <p:nvSpPr>
          <p:cNvPr id="15" name="预览不改当前草稿">
            <a:extLst xmlns:a="http://schemas.openxmlformats.org/drawingml/2006/main">
              <a:ext uri="{FF2B5EF4-FFF2-40B4-BE49-F238E27FC236}">
                <a16:creationId xmlns:a16="http://schemas.microsoft.com/office/drawing/2014/main" id="{317A69F4-E050-4B6D-92F7-733E671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预览不改当前草稿</a:t>
            </a:r>
          </a:p>
        </p:txBody>
      </p:sp>
      <p:sp>
        <p:nvSpPr>
          <p:cNvPr id="16" name="核算与检查">
            <a:extLst xmlns:a="http://schemas.openxmlformats.org/drawingml/2006/main">
              <a:ext uri="{FF2B5EF4-FFF2-40B4-BE49-F238E27FC236}">
                <a16:creationId xmlns:a16="http://schemas.microsoft.com/office/drawing/2014/main" id="{F73D6510-551C-4731-BF4B-4F6E511B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3257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7" name="核算与检查">
            <a:extLst xmlns:a="http://schemas.openxmlformats.org/drawingml/2006/main">
              <a:ext uri="{FF2B5EF4-FFF2-40B4-BE49-F238E27FC236}">
                <a16:creationId xmlns:a16="http://schemas.microsoft.com/office/drawing/2014/main" id="{11AE942D-6E55-40B6-B87E-1DE4AAA3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核算与检查</a:t>
            </a:r>
          </a:p>
        </p:txBody>
      </p:sp>
      <p:sp>
        <p:nvSpPr>
          <p:cNvPr id="18" name="交通、时长、预算">
            <a:extLst xmlns:a="http://schemas.openxmlformats.org/drawingml/2006/main">
              <a:ext uri="{FF2B5EF4-FFF2-40B4-BE49-F238E27FC236}">
                <a16:creationId xmlns:a16="http://schemas.microsoft.com/office/drawing/2014/main" id="{4C6AEBCD-E201-4C64-A510-EFE4740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交通、时长、预算</a:t>
            </a:r>
          </a:p>
        </p:txBody>
      </p:sp>
      <p:sp>
        <p:nvSpPr>
          <p:cNvPr id="19" name="人工调整">
            <a:extLst xmlns:a="http://schemas.openxmlformats.org/drawingml/2006/main">
              <a:ext uri="{FF2B5EF4-FFF2-40B4-BE49-F238E27FC236}">
                <a16:creationId xmlns:a16="http://schemas.microsoft.com/office/drawing/2014/main" id="{FEFA2D7B-0205-4C05-98B9-56DA3627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90975"/>
            <a:ext cx="3257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20" name="人工调整">
            <a:extLst xmlns:a="http://schemas.openxmlformats.org/drawingml/2006/main">
              <a:ext uri="{FF2B5EF4-FFF2-40B4-BE49-F238E27FC236}">
                <a16:creationId xmlns:a16="http://schemas.microsoft.com/office/drawing/2014/main" id="{53D46DCD-86FA-4A6F-BF9C-29D17566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4337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人工调整</a:t>
            </a:r>
          </a:p>
        </p:txBody>
      </p:sp>
      <p:sp>
        <p:nvSpPr>
          <p:cNvPr id="21" name="固定日期、单日重排">
            <a:extLst xmlns:a="http://schemas.openxmlformats.org/drawingml/2006/main">
              <a:ext uri="{FF2B5EF4-FFF2-40B4-BE49-F238E27FC236}">
                <a16:creationId xmlns:a16="http://schemas.microsoft.com/office/drawing/2014/main" id="{FA2226F9-B0B1-41AB-8E65-C454697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4342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固定日期、单日重排</a:t>
            </a:r>
          </a:p>
        </p:txBody>
      </p:sp>
      <p:sp>
        <p:nvSpPr>
          <p:cNvPr id="22" name="明确载入">
            <a:extLst xmlns:a="http://schemas.openxmlformats.org/drawingml/2006/main">
              <a:ext uri="{FF2B5EF4-FFF2-40B4-BE49-F238E27FC236}">
                <a16:creationId xmlns:a16="http://schemas.microsoft.com/office/drawing/2014/main" id="{05DB1949-8686-428F-A536-E56FDD4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3257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D4C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23" name="明确载入">
            <a:extLst xmlns:a="http://schemas.openxmlformats.org/drawingml/2006/main">
              <a:ext uri="{FF2B5EF4-FFF2-40B4-BE49-F238E27FC236}">
                <a16:creationId xmlns:a16="http://schemas.microsoft.com/office/drawing/2014/main" id="{C210FF31-AC1C-43C6-8BE4-DB5ECDE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4337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明确载入</a:t>
            </a:r>
          </a:p>
        </p:txBody>
      </p:sp>
      <p:sp>
        <p:nvSpPr>
          <p:cNvPr id="24" name="点击后替换，可撤销">
            <a:extLst xmlns:a="http://schemas.openxmlformats.org/drawingml/2006/main">
              <a:ext uri="{FF2B5EF4-FFF2-40B4-BE49-F238E27FC236}">
                <a16:creationId xmlns:a16="http://schemas.microsoft.com/office/drawing/2014/main" id="{F859F85F-A4C3-4448-B5A0-93687648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4342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5E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9E5E8"/>
                </a:solidFill>
                <a:latin typeface="Noto Sans SC"/>
                <a:ea typeface="Noto Sans SC"/>
                <a:cs typeface="Noto Sans SC"/>
              </a:rPr>
              <a:t>点击后替换，可撤销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86200" y="2347913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24775" y="2347913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934575" y="2847975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724775" y="449103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3886200" y="449103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sp>
        <p:nvSpPr>
          <p:cNvPr id="30" name="关键保护：生成建议与修改草稿是两个独立动作">
            <a:extLst xmlns:a="http://schemas.openxmlformats.org/drawingml/2006/main">
              <a:ext uri="{FF2B5EF4-FFF2-40B4-BE49-F238E27FC236}">
                <a16:creationId xmlns:a16="http://schemas.microsoft.com/office/drawing/2014/main" id="{3DAA9E2E-2C54-4275-824A-467E9EF5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关键保护：生成建议与修改草稿是两个独立动作</a:t>
            </a:r>
          </a:p>
        </p:txBody>
      </p:sp>
    </p:spTree>
    <p:extLst>
      <p:ext uri="{BB962C8B-B14F-4D97-AF65-F5344CB8AC3E}">
        <p14:creationId xmlns:p14="http://schemas.microsoft.com/office/powerpoint/2010/main" val="738953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8dce5c6aa465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  /  内容入口">
            <a:extLst xmlns:a="http://schemas.openxmlformats.org/drawingml/2006/main">
              <a:ext uri="{FF2B5EF4-FFF2-40B4-BE49-F238E27FC236}">
                <a16:creationId xmlns:a16="http://schemas.microsoft.com/office/drawing/2014/main" id="{0516B35D-8599-4C3F-8850-E5EA8F87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04  /  内容入口</a:t>
            </a:r>
          </a:p>
        </p:txBody>
      </p:sp>
      <p:sp>
        <p:nvSpPr>
          <p:cNvPr id="3" name="主题路线让用户快速开始一份草稿">
            <a:extLst xmlns:a="http://schemas.openxmlformats.org/drawingml/2006/main">
              <a:ext uri="{FF2B5EF4-FFF2-40B4-BE49-F238E27FC236}">
                <a16:creationId xmlns:a16="http://schemas.microsoft.com/office/drawing/2014/main" id="{0776D796-0DA6-4F33-8270-2355F87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主题路线让用户快速开始一份草稿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668E2-D471-42A9-A111-4E710AA1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9EF447A9-ACFC-4F1F-B77D-EE5FE14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5 / 20">
            <a:extLst xmlns:a="http://schemas.openxmlformats.org/drawingml/2006/main">
              <a:ext uri="{FF2B5EF4-FFF2-40B4-BE49-F238E27FC236}">
                <a16:creationId xmlns:a16="http://schemas.microsoft.com/office/drawing/2014/main" id="{50674C03-11C1-4409-BC4D-63DF723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05 / 20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15be02be14266"/>
          <a:stretch xmlns:a="http://schemas.openxmlformats.org/drawingml/2006/main"/>
        </p:blipFill>
        <p:spPr>
          <a:xfrm xmlns:a="http://schemas.openxmlformats.org/drawingml/2006/main">
            <a:off x="844327" y="1685925"/>
            <a:ext cx="7160071" cy="4591050"/>
          </a:xfrm>
          <a:prstGeom xmlns:a="http://schemas.openxmlformats.org/drawingml/2006/main" prst="rect">
            <a:avLst/>
          </a:prstGeom>
        </p:spPr>
      </p:pic>
      <p:sp>
        <p:nvSpPr>
          <p:cNvPr id="8" name="洛阳 · 两日慢游">
            <a:extLst xmlns:a="http://schemas.openxmlformats.org/drawingml/2006/main">
              <a:ext uri="{FF2B5EF4-FFF2-40B4-BE49-F238E27FC236}">
                <a16:creationId xmlns:a16="http://schemas.microsoft.com/office/drawing/2014/main" id="{73053AD7-CBF4-4F99-96E7-3EBC30F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洛阳 · 两日慢游</a:t>
            </a:r>
          </a:p>
        </p:txBody>
      </p:sp>
      <p:sp>
        <p:nvSpPr>
          <p:cNvPr id="9" name="文博、古寺与老城&#10;进入后可继续修改">
            <a:extLst xmlns:a="http://schemas.openxmlformats.org/drawingml/2006/main">
              <a:ext uri="{FF2B5EF4-FFF2-40B4-BE49-F238E27FC236}">
                <a16:creationId xmlns:a16="http://schemas.microsoft.com/office/drawing/2014/main" id="{6E127F79-08B6-41A3-9358-70A683E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95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文博、古寺与老城</a:t>
            </a:r>
          </a:p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进入后可继续修改</a:t>
            </a:r>
          </a:p>
        </p:txBody>
      </p:sp>
      <p:sp>
        <p:nvSpPr>
          <p:cNvPr id="10" name="郑汴洛 · 古都三日">
            <a:extLst xmlns:a="http://schemas.openxmlformats.org/drawingml/2006/main">
              <a:ext uri="{FF2B5EF4-FFF2-40B4-BE49-F238E27FC236}">
                <a16:creationId xmlns:a16="http://schemas.microsoft.com/office/drawing/2014/main" id="{E9C76F4F-2B58-42EB-969E-9BD03701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郑汴洛 · 古都三日</a:t>
            </a:r>
          </a:p>
        </p:txBody>
      </p:sp>
      <p:sp>
        <p:nvSpPr>
          <p:cNvPr id="11" name="太行 · 山水两日">
            <a:extLst xmlns:a="http://schemas.openxmlformats.org/drawingml/2006/main">
              <a:ext uri="{FF2B5EF4-FFF2-40B4-BE49-F238E27FC236}">
                <a16:creationId xmlns:a16="http://schemas.microsoft.com/office/drawing/2014/main" id="{59B85E1D-4451-46BE-884C-9D5C6912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910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太行 · 山水两日</a:t>
            </a:r>
          </a:p>
        </p:txBody>
      </p:sp>
      <p:sp>
        <p:nvSpPr>
          <p:cNvPr id="12" name="实景照片有作者与许可&#10;资料链接可追溯">
            <a:extLst xmlns:a="http://schemas.openxmlformats.org/drawingml/2006/main">
              <a:ext uri="{FF2B5EF4-FFF2-40B4-BE49-F238E27FC236}">
                <a16:creationId xmlns:a16="http://schemas.microsoft.com/office/drawing/2014/main" id="{A897325E-F55B-44E7-9930-6EEB40A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054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实景照片有作者与许可</a:t>
            </a:r>
          </a:p>
          <a:p xmlns:a="http://schemas.openxmlformats.org/drawingml/2006/main">
            <a:pPr algn="l">
              <a:def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资料链接可追溯</a:t>
            </a:r>
          </a:p>
        </p:txBody>
      </p:sp>
    </p:spTree>
    <p:extLst>
      <p:ext uri="{BB962C8B-B14F-4D97-AF65-F5344CB8AC3E}">
        <p14:creationId xmlns:p14="http://schemas.microsoft.com/office/powerpoint/2010/main" val="1258994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19b571fde443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  /  在线实测">
            <a:extLst xmlns:a="http://schemas.openxmlformats.org/drawingml/2006/main">
              <a:ext uri="{FF2B5EF4-FFF2-40B4-BE49-F238E27FC236}">
                <a16:creationId xmlns:a16="http://schemas.microsoft.com/office/drawing/2014/main" id="{20059690-1EAC-45BF-8875-601CC27C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05  /  在线实测</a:t>
            </a:r>
          </a:p>
        </p:txBody>
      </p:sp>
      <p:sp>
        <p:nvSpPr>
          <p:cNvPr id="3" name="星火 X2.5 已完成网站需求识别">
            <a:extLst xmlns:a="http://schemas.openxmlformats.org/drawingml/2006/main">
              <a:ext uri="{FF2B5EF4-FFF2-40B4-BE49-F238E27FC236}">
                <a16:creationId xmlns:a16="http://schemas.microsoft.com/office/drawing/2014/main" id="{B11B2ABD-C9D2-47AE-A180-0B1931AC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星火 X2.5 已完成网站需求识别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D890C-F716-4F63-82F8-5DF76025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8B972774-F97F-4114-AEC4-A4911BC8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6 / 20">
            <a:extLst xmlns:a="http://schemas.openxmlformats.org/drawingml/2006/main">
              <a:ext uri="{FF2B5EF4-FFF2-40B4-BE49-F238E27FC236}">
                <a16:creationId xmlns:a16="http://schemas.microsoft.com/office/drawing/2014/main" id="{CB98D936-1FC8-41CE-BEF7-AE61493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06 / 20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305855fd54418"/>
          <a:stretch xmlns:a="http://schemas.openxmlformats.org/drawingml/2006/main"/>
        </p:blipFill>
        <p:spPr>
          <a:xfrm xmlns:a="http://schemas.openxmlformats.org/drawingml/2006/main">
            <a:off x="744704" y="1685925"/>
            <a:ext cx="4092242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同一输入的结构化条件">
            <a:extLst xmlns:a="http://schemas.openxmlformats.org/drawingml/2006/main">
              <a:ext uri="{FF2B5EF4-FFF2-40B4-BE49-F238E27FC236}">
                <a16:creationId xmlns:a16="http://schemas.microsoft.com/office/drawing/2014/main" id="{8BCA4908-4803-4041-8947-A587D2B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33550"/>
            <a:ext cx="6124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同一输入的结构化条件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391150" y="2314575"/>
          <a:ext xmlns:a="http://schemas.openxmlformats.org/drawingml/2006/main" cx="615315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105275"/>
              </a:tblGrid>
              <a:tr h="550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字段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确认值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550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目的地与天数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洛阳 / 2天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550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出行方式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公交 / 地铁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550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每日上限与休息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6小时 / 30分钟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550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人均目标预算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300元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550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偏好与范围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文化与博物馆 / 不跨城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10" name="用户可先修改条件，再生成候选">
            <a:extLst xmlns:a="http://schemas.openxmlformats.org/drawingml/2006/main">
              <a:ext uri="{FF2B5EF4-FFF2-40B4-BE49-F238E27FC236}">
                <a16:creationId xmlns:a16="http://schemas.microsoft.com/office/drawing/2014/main" id="{7B5059E8-4C31-4B66-ADD2-B6CAE2A7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886450"/>
            <a:ext cx="615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用户可先修改条件，再生成候选</a:t>
            </a:r>
          </a:p>
        </p:txBody>
      </p:sp>
    </p:spTree>
    <p:extLst>
      <p:ext uri="{BB962C8B-B14F-4D97-AF65-F5344CB8AC3E}">
        <p14:creationId xmlns:p14="http://schemas.microsoft.com/office/powerpoint/2010/main" val="1151808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22f1f05924a2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6  /  候选与应用">
            <a:extLst xmlns:a="http://schemas.openxmlformats.org/drawingml/2006/main">
              <a:ext uri="{FF2B5EF4-FFF2-40B4-BE49-F238E27FC236}">
                <a16:creationId xmlns:a16="http://schemas.microsoft.com/office/drawing/2014/main" id="{D30CEE37-966E-43AB-B3C3-B4BF3783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06  /  候选与应用</a:t>
            </a:r>
          </a:p>
        </p:txBody>
      </p:sp>
      <p:sp>
        <p:nvSpPr>
          <p:cNvPr id="3" name="四站候选需要用户确认后才进入草稿">
            <a:extLst xmlns:a="http://schemas.openxmlformats.org/drawingml/2006/main">
              <a:ext uri="{FF2B5EF4-FFF2-40B4-BE49-F238E27FC236}">
                <a16:creationId xmlns:a16="http://schemas.microsoft.com/office/drawing/2014/main" id="{B61AAD4A-A75A-4638-BEF2-9FF65018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四站候选需要用户确认后才进入草稿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CBA75-45C7-422B-BDA1-F4D39C1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5A29655C-4F12-4603-B8E6-06DE153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7 / 20">
            <a:extLst xmlns:a="http://schemas.openxmlformats.org/drawingml/2006/main">
              <a:ext uri="{FF2B5EF4-FFF2-40B4-BE49-F238E27FC236}">
                <a16:creationId xmlns:a16="http://schemas.microsoft.com/office/drawing/2014/main" id="{1F3B0028-3D31-48DC-AD73-5101EEE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07 / 20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e8d2f282d484e"/>
          <a:stretch xmlns:a="http://schemas.openxmlformats.org/drawingml/2006/main"/>
        </p:blipFill>
        <p:spPr>
          <a:xfrm xmlns:a="http://schemas.openxmlformats.org/drawingml/2006/main">
            <a:off x="675122" y="1695450"/>
            <a:ext cx="4126630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第1天">
            <a:extLst xmlns:a="http://schemas.openxmlformats.org/drawingml/2006/main">
              <a:ext uri="{FF2B5EF4-FFF2-40B4-BE49-F238E27FC236}">
                <a16:creationId xmlns:a16="http://schemas.microsoft.com/office/drawing/2014/main" id="{68FFB04F-3CF5-4537-AA09-82F87C0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192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第1天</a:t>
            </a:r>
          </a:p>
        </p:txBody>
      </p:sp>
      <p:sp>
        <p:nvSpPr>
          <p:cNvPr id="9" name="洛阳博物馆 + 龙门石窟">
            <a:extLst xmlns:a="http://schemas.openxmlformats.org/drawingml/2006/main">
              <a:ext uri="{FF2B5EF4-FFF2-40B4-BE49-F238E27FC236}">
                <a16:creationId xmlns:a16="http://schemas.microsoft.com/office/drawing/2014/main" id="{F5205042-A7CC-45A6-A85E-F104EC4B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764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洛阳博物馆 + 龙门石窟</a:t>
            </a:r>
          </a:p>
        </p:txBody>
      </p:sp>
      <p:sp>
        <p:nvSpPr>
          <p:cNvPr id="10" name="游览5小时，交通尚待核算">
            <a:extLst xmlns:a="http://schemas.openxmlformats.org/drawingml/2006/main">
              <a:ext uri="{FF2B5EF4-FFF2-40B4-BE49-F238E27FC236}">
                <a16:creationId xmlns:a16="http://schemas.microsoft.com/office/drawing/2014/main" id="{B174DFD9-2849-47B6-8B61-5BAF07E2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908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游览5小时，交通尚待核算</a:t>
            </a:r>
          </a:p>
        </p:txBody>
      </p:sp>
      <p:sp>
        <p:nvSpPr>
          <p:cNvPr id="11" name="第2天">
            <a:extLst xmlns:a="http://schemas.openxmlformats.org/drawingml/2006/main">
              <a:ext uri="{FF2B5EF4-FFF2-40B4-BE49-F238E27FC236}">
                <a16:creationId xmlns:a16="http://schemas.microsoft.com/office/drawing/2014/main" id="{B63C8628-C1FE-411B-9A7B-BD6AD95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337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第2天</a:t>
            </a:r>
          </a:p>
        </p:txBody>
      </p:sp>
      <p:sp>
        <p:nvSpPr>
          <p:cNvPr id="12" name="白马寺 + 洛邑古城">
            <a:extLst xmlns:a="http://schemas.openxmlformats.org/drawingml/2006/main">
              <a:ext uri="{FF2B5EF4-FFF2-40B4-BE49-F238E27FC236}">
                <a16:creationId xmlns:a16="http://schemas.microsoft.com/office/drawing/2014/main" id="{4F4064E6-7495-4E09-9F77-1AC527BE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白马寺 + 洛邑古城</a:t>
            </a:r>
          </a:p>
        </p:txBody>
      </p:sp>
      <p:sp>
        <p:nvSpPr>
          <p:cNvPr id="13" name="游览3.5小时，交通尚待核算">
            <a:extLst xmlns:a="http://schemas.openxmlformats.org/drawingml/2006/main">
              <a:ext uri="{FF2B5EF4-FFF2-40B4-BE49-F238E27FC236}">
                <a16:creationId xmlns:a16="http://schemas.microsoft.com/office/drawing/2014/main" id="{A9DBFC71-EF4B-433C-A65E-17619971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05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游览3.5小时，交通尚待核算</a:t>
            </a:r>
          </a:p>
        </p:txBody>
      </p:sp>
      <p:sp>
        <p:nvSpPr>
          <p:cNvPr id="14" name="原草稿5站   →   点击替换   →   当前4站">
            <a:extLst xmlns:a="http://schemas.openxmlformats.org/drawingml/2006/main">
              <a:ext uri="{FF2B5EF4-FFF2-40B4-BE49-F238E27FC236}">
                <a16:creationId xmlns:a16="http://schemas.microsoft.com/office/drawing/2014/main" id="{916EC7DB-451C-4C9B-BD5C-66482085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57825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原草稿5站   →   点击替换   →   当前4站</a:t>
            </a:r>
          </a:p>
        </p:txBody>
      </p:sp>
      <p:sp>
        <p:nvSpPr>
          <p:cNvPr id="15" name="预览结果：0项冲突，3项待确认">
            <a:extLst xmlns:a="http://schemas.openxmlformats.org/drawingml/2006/main">
              <a:ext uri="{FF2B5EF4-FFF2-40B4-BE49-F238E27FC236}">
                <a16:creationId xmlns:a16="http://schemas.microsoft.com/office/drawing/2014/main" id="{814B8EBE-C440-41ED-9E21-A0132199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05500"/>
            <a:ext cx="623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预览结果：0项冲突，3项待确认</a:t>
            </a:r>
          </a:p>
        </p:txBody>
      </p:sp>
    </p:spTree>
    <p:extLst>
      <p:ext uri="{BB962C8B-B14F-4D97-AF65-F5344CB8AC3E}">
        <p14:creationId xmlns:p14="http://schemas.microsoft.com/office/powerpoint/2010/main" val="1261097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3c738c1384e4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7  /  交通依据">
            <a:extLst xmlns:a="http://schemas.openxmlformats.org/drawingml/2006/main">
              <a:ext uri="{FF2B5EF4-FFF2-40B4-BE49-F238E27FC236}">
                <a16:creationId xmlns:a16="http://schemas.microsoft.com/office/drawing/2014/main" id="{33A328E4-6061-4895-92CC-5B47FD38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07  /  交通依据</a:t>
            </a:r>
          </a:p>
        </p:txBody>
      </p:sp>
      <p:sp>
        <p:nvSpPr>
          <p:cNvPr id="3" name="确认实际入口，再查询站间交通">
            <a:extLst xmlns:a="http://schemas.openxmlformats.org/drawingml/2006/main">
              <a:ext uri="{FF2B5EF4-FFF2-40B4-BE49-F238E27FC236}">
                <a16:creationId xmlns:a16="http://schemas.microsoft.com/office/drawing/2014/main" id="{E7570113-2074-4E94-BE6C-B1824FF9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确认实际入口，再查询站间交通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EEB7-1F61-4702-A227-C97E8C8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24C65020-B455-4328-AF32-FB319E8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8 / 20">
            <a:extLst xmlns:a="http://schemas.openxmlformats.org/drawingml/2006/main">
              <a:ext uri="{FF2B5EF4-FFF2-40B4-BE49-F238E27FC236}">
                <a16:creationId xmlns:a16="http://schemas.microsoft.com/office/drawing/2014/main" id="{D7E419CE-6793-4C12-AA1E-5638406B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08 / 20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75cc0729a4538"/>
          <a:stretch xmlns:a="http://schemas.openxmlformats.org/drawingml/2006/main"/>
        </p:blipFill>
        <p:spPr>
          <a:xfrm xmlns:a="http://schemas.openxmlformats.org/drawingml/2006/main">
            <a:off x="780578" y="1714500"/>
            <a:ext cx="7097069" cy="4552950"/>
          </a:xfrm>
          <a:prstGeom xmlns:a="http://schemas.openxmlformats.org/drawingml/2006/main" prst="rect">
            <a:avLst/>
          </a:prstGeom>
        </p:spPr>
      </p:pic>
      <p:sp>
        <p:nvSpPr>
          <p:cNvPr id="8" name="洛阳博物馆">
            <a:extLst xmlns:a="http://schemas.openxmlformats.org/drawingml/2006/main">
              <a:ext uri="{FF2B5EF4-FFF2-40B4-BE49-F238E27FC236}">
                <a16:creationId xmlns:a16="http://schemas.microsoft.com/office/drawing/2014/main" id="{21AA1A41-70AF-4A84-96CE-3A331CB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19275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洛阳博物馆</a:t>
            </a:r>
          </a:p>
        </p:txBody>
      </p:sp>
      <p:sp>
        <p:nvSpPr>
          <p:cNvPr id="9" name="聂泰路6号">
            <a:extLst xmlns:a="http://schemas.openxmlformats.org/drawingml/2006/main">
              <a:ext uri="{FF2B5EF4-FFF2-40B4-BE49-F238E27FC236}">
                <a16:creationId xmlns:a16="http://schemas.microsoft.com/office/drawing/2014/main" id="{1A65D9E6-A01D-45C4-B47A-1630AF96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24100"/>
            <a:ext cx="3171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聂泰路6号</a:t>
            </a:r>
          </a:p>
        </p:txBody>
      </p:sp>
      <p:sp>
        <p:nvSpPr>
          <p:cNvPr id="10" name="龙门石窟大石门检票口">
            <a:extLst xmlns:a="http://schemas.openxmlformats.org/drawingml/2006/main">
              <a:ext uri="{FF2B5EF4-FFF2-40B4-BE49-F238E27FC236}">
                <a16:creationId xmlns:a16="http://schemas.microsoft.com/office/drawing/2014/main" id="{7525AAC9-C8D1-4725-9121-BA1585D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90850"/>
            <a:ext cx="319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龙门石窟大石门检票口</a:t>
            </a:r>
          </a:p>
        </p:txBody>
      </p:sp>
      <p:sp>
        <p:nvSpPr>
          <p:cNvPr id="11" name="龙门中街13号北侧">
            <a:extLst xmlns:a="http://schemas.openxmlformats.org/drawingml/2006/main">
              <a:ext uri="{FF2B5EF4-FFF2-40B4-BE49-F238E27FC236}">
                <a16:creationId xmlns:a16="http://schemas.microsoft.com/office/drawing/2014/main" id="{67354A89-3B96-4673-B1A7-75984CFE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8142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龙门中街13号北侧</a:t>
            </a:r>
          </a:p>
        </p:txBody>
      </p:sp>
      <p:sp>
        <p:nvSpPr>
          <p:cNvPr id="12" name="76 分钟">
            <a:extLst xmlns:a="http://schemas.openxmlformats.org/drawingml/2006/main">
              <a:ext uri="{FF2B5EF4-FFF2-40B4-BE49-F238E27FC236}">
                <a16:creationId xmlns:a16="http://schemas.microsoft.com/office/drawing/2014/main" id="{79A8476D-36D9-455B-BF84-01A1761E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5720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76 分钟</a:t>
            </a:r>
          </a:p>
        </p:txBody>
      </p:sp>
      <p:sp>
        <p:nvSpPr>
          <p:cNvPr id="13" name="公交 / 地铁  ·  14.9公里">
            <a:extLst xmlns:a="http://schemas.openxmlformats.org/drawingml/2006/main">
              <a:ext uri="{FF2B5EF4-FFF2-40B4-BE49-F238E27FC236}">
                <a16:creationId xmlns:a16="http://schemas.microsoft.com/office/drawing/2014/main" id="{01D18C4E-2274-447C-A39E-A00B3779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863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公交 / 地铁  ·  14.9公里</a:t>
            </a:r>
          </a:p>
        </p:txBody>
      </p:sp>
      <p:sp>
        <p:nvSpPr>
          <p:cNvPr id="14" name="2026.10.03 查询时估计">
            <a:extLst xmlns:a="http://schemas.openxmlformats.org/drawingml/2006/main">
              <a:ext uri="{FF2B5EF4-FFF2-40B4-BE49-F238E27FC236}">
                <a16:creationId xmlns:a16="http://schemas.microsoft.com/office/drawing/2014/main" id="{C0FAAFD8-F62C-4B7E-9239-4BA748F0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857875"/>
            <a:ext cx="320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2026.10.03 查询时估计</a:t>
            </a:r>
          </a:p>
        </p:txBody>
      </p:sp>
    </p:spTree>
    <p:extLst>
      <p:ext uri="{BB962C8B-B14F-4D97-AF65-F5344CB8AC3E}">
        <p14:creationId xmlns:p14="http://schemas.microsoft.com/office/powerpoint/2010/main" val="1499706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7d46f0bfd45b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8  /  冲突发现">
            <a:extLst xmlns:a="http://schemas.openxmlformats.org/drawingml/2006/main">
              <a:ext uri="{FF2B5EF4-FFF2-40B4-BE49-F238E27FC236}">
                <a16:creationId xmlns:a16="http://schemas.microsoft.com/office/drawing/2014/main" id="{9AEC04E9-78DA-4D04-95E6-3A3A0E1C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08  /  冲突发现</a:t>
            </a:r>
          </a:p>
        </p:txBody>
      </p:sp>
      <p:sp>
        <p:nvSpPr>
          <p:cNvPr id="3" name="交通计入后，第一天超过上限46分钟">
            <a:extLst xmlns:a="http://schemas.openxmlformats.org/drawingml/2006/main">
              <a:ext uri="{FF2B5EF4-FFF2-40B4-BE49-F238E27FC236}">
                <a16:creationId xmlns:a16="http://schemas.microsoft.com/office/drawing/2014/main" id="{D81D3F3D-055E-4DED-B462-47483EA0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交通计入后，第一天超过上限46分钟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7D7A-CAF6-4DCC-AF54-16ABA3F6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CA872D62-C19E-471A-B4EA-27C43658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09 / 20">
            <a:extLst xmlns:a="http://schemas.openxmlformats.org/drawingml/2006/main">
              <a:ext uri="{FF2B5EF4-FFF2-40B4-BE49-F238E27FC236}">
                <a16:creationId xmlns:a16="http://schemas.microsoft.com/office/drawing/2014/main" id="{D8FA2477-6C14-4061-824D-716909B0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09 / 20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82e688e48453d"/>
          <a:stretch xmlns:a="http://schemas.openxmlformats.org/drawingml/2006/main"/>
        </p:blipFill>
        <p:spPr>
          <a:xfrm xmlns:a="http://schemas.openxmlformats.org/drawingml/2006/main">
            <a:off x="1222464" y="1704975"/>
            <a:ext cx="4555947" cy="4505325"/>
          </a:xfrm>
          <a:prstGeom xmlns:a="http://schemas.openxmlformats.org/drawingml/2006/main" prst="rect">
            <a:avLst/>
          </a:prstGeom>
        </p:spPr>
      </p:pic>
      <p:sp>
        <p:nvSpPr>
          <p:cNvPr id="8" name="300">
            <a:extLst xmlns:a="http://schemas.openxmlformats.org/drawingml/2006/main">
              <a:ext uri="{FF2B5EF4-FFF2-40B4-BE49-F238E27FC236}">
                <a16:creationId xmlns:a16="http://schemas.microsoft.com/office/drawing/2014/main" id="{5A766861-043E-4656-A0AE-C4C97CDB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9070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42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300</a:t>
            </a:r>
          </a:p>
        </p:txBody>
      </p:sp>
      <p:sp>
        <p:nvSpPr>
          <p:cNvPr id="9" name="游览分钟">
            <a:extLst xmlns:a="http://schemas.openxmlformats.org/drawingml/2006/main">
              <a:ext uri="{FF2B5EF4-FFF2-40B4-BE49-F238E27FC236}">
                <a16:creationId xmlns:a16="http://schemas.microsoft.com/office/drawing/2014/main" id="{2B6E6DD1-60AC-4BDB-AF79-695602D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977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游览分钟</a:t>
            </a:r>
          </a:p>
        </p:txBody>
      </p:sp>
      <p:sp>
        <p:nvSpPr>
          <p:cNvPr id="10" name="+ 30">
            <a:extLst xmlns:a="http://schemas.openxmlformats.org/drawingml/2006/main">
              <a:ext uri="{FF2B5EF4-FFF2-40B4-BE49-F238E27FC236}">
                <a16:creationId xmlns:a16="http://schemas.microsoft.com/office/drawing/2014/main" id="{4D09300E-DFBD-498C-A3A4-EE09D27D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2114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+ 30</a:t>
            </a:r>
          </a:p>
        </p:txBody>
      </p:sp>
      <p:sp>
        <p:nvSpPr>
          <p:cNvPr id="11" name="休息分钟">
            <a:extLst xmlns:a="http://schemas.openxmlformats.org/drawingml/2006/main">
              <a:ext uri="{FF2B5EF4-FFF2-40B4-BE49-F238E27FC236}">
                <a16:creationId xmlns:a16="http://schemas.microsoft.com/office/drawing/2014/main" id="{4A186EA9-64BA-40F2-B159-5638E87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休息分钟</a:t>
            </a:r>
          </a:p>
        </p:txBody>
      </p:sp>
      <p:sp>
        <p:nvSpPr>
          <p:cNvPr id="12" name="+ 76">
            <a:extLst xmlns:a="http://schemas.openxmlformats.org/drawingml/2006/main">
              <a:ext uri="{FF2B5EF4-FFF2-40B4-BE49-F238E27FC236}">
                <a16:creationId xmlns:a16="http://schemas.microsoft.com/office/drawing/2014/main" id="{23CAAE9C-D55D-46D3-8056-51A520E7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29025"/>
            <a:ext cx="2114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+ 76</a:t>
            </a:r>
          </a:p>
        </p:txBody>
      </p:sp>
      <p:sp>
        <p:nvSpPr>
          <p:cNvPr id="13" name="站间交通分钟">
            <a:extLst xmlns:a="http://schemas.openxmlformats.org/drawingml/2006/main">
              <a:ext uri="{FF2B5EF4-FFF2-40B4-BE49-F238E27FC236}">
                <a16:creationId xmlns:a16="http://schemas.microsoft.com/office/drawing/2014/main" id="{D572AB89-476D-4F70-9B5F-CC271E48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站间交通分钟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6A668-D92D-4523-8808-E1AC92B4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A664"/>
            </a:solidFill>
          </a:ln>
        </p:spPr>
      </p:sp>
      <p:sp>
        <p:nvSpPr>
          <p:cNvPr id="15" name="406 / 360">
            <a:extLst xmlns:a="http://schemas.openxmlformats.org/drawingml/2006/main">
              <a:ext uri="{FF2B5EF4-FFF2-40B4-BE49-F238E27FC236}">
                <a16:creationId xmlns:a16="http://schemas.microsoft.com/office/drawing/2014/main" id="{D8BFF48B-53CF-4921-B589-44D1431B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4686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9D5041"/>
                </a:solidFill>
                <a:latin typeface="Noto Sans SC"/>
                <a:ea typeface="Noto Sans SC"/>
                <a:cs typeface="Noto Sans SC"/>
              </a:defRPr>
            </a:pPr>
            <a:r>
              <a:rPr sz="3825" b="1">
                <a:solidFill>
                  <a:srgbClr val="9D5041"/>
                </a:solidFill>
                <a:latin typeface="Noto Sans SC"/>
                <a:ea typeface="Noto Sans SC"/>
                <a:cs typeface="Noto Sans SC"/>
              </a:rPr>
              <a:t>406 / 360</a:t>
            </a:r>
          </a:p>
        </p:txBody>
      </p:sp>
      <p:sp>
        <p:nvSpPr>
          <p:cNvPr id="16" name="已知负荷 / 每日上限（分钟）">
            <a:extLst xmlns:a="http://schemas.openxmlformats.org/drawingml/2006/main">
              <a:ext uri="{FF2B5EF4-FFF2-40B4-BE49-F238E27FC236}">
                <a16:creationId xmlns:a16="http://schemas.microsoft.com/office/drawing/2014/main" id="{9FF785BF-83FA-49BB-A744-BE83A368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57825"/>
            <a:ext cx="4629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已知负荷 / 每日上限（分钟）</a:t>
            </a:r>
          </a:p>
        </p:txBody>
      </p:sp>
      <p:sp>
        <p:nvSpPr>
          <p:cNvPr id="17" name="检查变为：1项冲突，2项待确认">
            <a:extLst xmlns:a="http://schemas.openxmlformats.org/drawingml/2006/main">
              <a:ext uri="{FF2B5EF4-FFF2-40B4-BE49-F238E27FC236}">
                <a16:creationId xmlns:a16="http://schemas.microsoft.com/office/drawing/2014/main" id="{EA395E89-1A4E-4209-B943-9779C52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245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检查变为：1项冲突，2项待确认</a:t>
            </a:r>
          </a:p>
        </p:txBody>
      </p:sp>
    </p:spTree>
    <p:extLst>
      <p:ext uri="{BB962C8B-B14F-4D97-AF65-F5344CB8AC3E}">
        <p14:creationId xmlns:p14="http://schemas.microsoft.com/office/powerpoint/2010/main" val="1823240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eaf74a9154de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9  /  行程编辑">
            <a:extLst xmlns:a="http://schemas.openxmlformats.org/drawingml/2006/main">
              <a:ext uri="{FF2B5EF4-FFF2-40B4-BE49-F238E27FC236}">
                <a16:creationId xmlns:a16="http://schemas.microsoft.com/office/drawing/2014/main" id="{6B9C4983-E512-492B-BC61-5C50B67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09  /  行程编辑</a:t>
            </a:r>
          </a:p>
        </p:txBody>
      </p:sp>
      <p:sp>
        <p:nvSpPr>
          <p:cNvPr id="3" name="调整局部安排，同时保护已确认内容">
            <a:extLst xmlns:a="http://schemas.openxmlformats.org/drawingml/2006/main">
              <a:ext uri="{FF2B5EF4-FFF2-40B4-BE49-F238E27FC236}">
                <a16:creationId xmlns:a16="http://schemas.microsoft.com/office/drawing/2014/main" id="{40649376-8AF6-4702-B1BA-88BB243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调整局部安排，同时保护已确认内容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1F5AF-48E0-42F0-9636-5F1007B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DC39D505-ACAB-4259-B60F-AD4D2F1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0 / 20">
            <a:extLst xmlns:a="http://schemas.openxmlformats.org/drawingml/2006/main">
              <a:ext uri="{FF2B5EF4-FFF2-40B4-BE49-F238E27FC236}">
                <a16:creationId xmlns:a16="http://schemas.microsoft.com/office/drawing/2014/main" id="{D48B86F3-7B8D-4FD1-BEE0-68F0C59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10 / 20</a:t>
            </a:r>
          </a:p>
        </p:txBody>
      </p:sp>
      <p:sp>
        <p:nvSpPr>
          <p:cNvPr id="7" name="固定日期">
            <a:extLst xmlns:a="http://schemas.openxmlformats.org/drawingml/2006/main">
              <a:ext uri="{FF2B5EF4-FFF2-40B4-BE49-F238E27FC236}">
                <a16:creationId xmlns:a16="http://schemas.microsoft.com/office/drawing/2014/main" id="{F4C2EFB3-40DF-4399-A37F-D6F2B999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095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8" name="固定日期">
            <a:extLst xmlns:a="http://schemas.openxmlformats.org/drawingml/2006/main">
              <a:ext uri="{FF2B5EF4-FFF2-40B4-BE49-F238E27FC236}">
                <a16:creationId xmlns:a16="http://schemas.microsoft.com/office/drawing/2014/main" id="{B1DF5DBB-C298-46A4-8934-CDB7AC08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固定日期</a:t>
            </a:r>
          </a:p>
        </p:txBody>
      </p:sp>
      <p:sp>
        <p:nvSpPr>
          <p:cNvPr id="9" name="白马寺固定第2天，缩短天数被拦截">
            <a:extLst xmlns:a="http://schemas.openxmlformats.org/drawingml/2006/main">
              <a:ext uri="{FF2B5EF4-FFF2-40B4-BE49-F238E27FC236}">
                <a16:creationId xmlns:a16="http://schemas.microsoft.com/office/drawing/2014/main" id="{968EF333-E66C-470D-9D20-A5D1AB0B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白马寺固定第2天，缩短天数被拦截</a:t>
            </a:r>
          </a:p>
        </p:txBody>
      </p:sp>
      <p:sp>
        <p:nvSpPr>
          <p:cNvPr id="10" name="只重排某一天">
            <a:extLst xmlns:a="http://schemas.openxmlformats.org/drawingml/2006/main">
              <a:ext uri="{FF2B5EF4-FFF2-40B4-BE49-F238E27FC236}">
                <a16:creationId xmlns:a16="http://schemas.microsoft.com/office/drawing/2014/main" id="{19905D38-0835-47AE-A0BF-CC4A34F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51149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1" name="只重排某一天">
            <a:extLst xmlns:a="http://schemas.openxmlformats.org/drawingml/2006/main">
              <a:ext uri="{FF2B5EF4-FFF2-40B4-BE49-F238E27FC236}">
                <a16:creationId xmlns:a16="http://schemas.microsoft.com/office/drawing/2014/main" id="{B1507267-0CC0-4431-ADEE-FF98484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0250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只重排某一天</a:t>
            </a:r>
          </a:p>
        </p:txBody>
      </p:sp>
      <p:sp>
        <p:nvSpPr>
          <p:cNvPr id="12" name="其他天的地点、顺序、时长保持">
            <a:extLst xmlns:a="http://schemas.openxmlformats.org/drawingml/2006/main">
              <a:ext uri="{FF2B5EF4-FFF2-40B4-BE49-F238E27FC236}">
                <a16:creationId xmlns:a16="http://schemas.microsoft.com/office/drawing/2014/main" id="{F52C8637-28BD-45D9-865C-A7785595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00300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其他天的地点、顺序、时长保持</a:t>
            </a:r>
          </a:p>
        </p:txBody>
      </p:sp>
      <p:sp>
        <p:nvSpPr>
          <p:cNvPr id="13" name="在线编辑与撤销已实测">
            <a:extLst xmlns:a="http://schemas.openxmlformats.org/drawingml/2006/main">
              <a:ext uri="{FF2B5EF4-FFF2-40B4-BE49-F238E27FC236}">
                <a16:creationId xmlns:a16="http://schemas.microsoft.com/office/drawing/2014/main" id="{AEEF88AD-D617-4F35-8F42-52E95333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在线编辑与撤销已实测</a:t>
            </a:r>
          </a:p>
        </p:txBody>
      </p:sp>
      <p:sp>
        <p:nvSpPr>
          <p:cNvPr id="14" name="120分钟改为90分钟，再撤销">
            <a:extLst xmlns:a="http://schemas.openxmlformats.org/drawingml/2006/main">
              <a:ext uri="{FF2B5EF4-FFF2-40B4-BE49-F238E27FC236}">
                <a16:creationId xmlns:a16="http://schemas.microsoft.com/office/drawing/2014/main" id="{A8FBB161-81A4-4378-83A1-6C9696C1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120分钟改为90分钟，再撤销</a:t>
            </a:r>
          </a:p>
        </p:txBody>
      </p:sp>
      <p:sp>
        <p:nvSpPr>
          <p:cNvPr id="15" name="洛阳博物馆恢复为120分钟&#10;原交通结果仍显示待核算">
            <a:extLst xmlns:a="http://schemas.openxmlformats.org/drawingml/2006/main">
              <a:ext uri="{FF2B5EF4-FFF2-40B4-BE49-F238E27FC236}">
                <a16:creationId xmlns:a16="http://schemas.microsoft.com/office/drawing/2014/main" id="{0C4F8B48-058C-458A-9237-C054B648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520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洛阳博物馆恢复为120分钟</a:t>
            </a:r>
          </a:p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原交通结果仍显示待核算</a:t>
            </a:r>
          </a:p>
        </p:txBody>
      </p:sp>
      <p:sp>
        <p:nvSpPr>
          <p:cNvPr id="16" name="固定日期不随缩短天数消失">
            <a:extLst xmlns:a="http://schemas.openxmlformats.org/drawingml/2006/main">
              <a:ext uri="{FF2B5EF4-FFF2-40B4-BE49-F238E27FC236}">
                <a16:creationId xmlns:a16="http://schemas.microsoft.com/office/drawing/2014/main" id="{ECD86F24-6D73-4570-A772-A08F806A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766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固定日期不随缩短天数消失</a:t>
            </a:r>
          </a:p>
        </p:txBody>
      </p:sp>
      <p:sp>
        <p:nvSpPr>
          <p:cNvPr id="17" name="白马寺仍在第2天&#10;尝试改为1天时保留原2天安排">
            <a:extLst xmlns:a="http://schemas.openxmlformats.org/drawingml/2006/main">
              <a:ext uri="{FF2B5EF4-FFF2-40B4-BE49-F238E27FC236}">
                <a16:creationId xmlns:a16="http://schemas.microsoft.com/office/drawing/2014/main" id="{ABC37F8D-0AE1-456B-806B-BF0FF45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5105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白马寺仍在第2天</a:t>
            </a:r>
          </a:p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尝试改为1天时保留原2天安排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97b432c9c4166"/>
          <a:stretch xmlns:a="http://schemas.openxmlformats.org/drawingml/2006/main"/>
        </p:blipFill>
        <p:spPr>
          <a:xfrm xmlns:a="http://schemas.openxmlformats.org/drawingml/2006/main">
            <a:off x="628650" y="5401776"/>
            <a:ext cx="7058025" cy="426422"/>
          </a:xfrm>
          <a:prstGeom xmlns:a="http://schemas.openxmlformats.org/drawingml/2006/main" prst="rect">
            <a:avLst/>
          </a:prstGeom>
        </p:spPr>
      </p:pic>
      <p:sp>
        <p:nvSpPr>
          <p:cNvPr id="19" name="分日时长是规划目标，不能当作已经满足的可行性保证">
            <a:extLst xmlns:a="http://schemas.openxmlformats.org/drawingml/2006/main">
              <a:ext uri="{FF2B5EF4-FFF2-40B4-BE49-F238E27FC236}">
                <a16:creationId xmlns:a16="http://schemas.microsoft.com/office/drawing/2014/main" id="{AD01893D-5DB7-41D5-BB39-2AA7E2AE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分日时长是规划目标，不能当作已经满足的可行性保证</a:t>
            </a:r>
          </a:p>
        </p:txBody>
      </p:sp>
    </p:spTree>
    <p:extLst>
      <p:ext uri="{BB962C8B-B14F-4D97-AF65-F5344CB8AC3E}">
        <p14:creationId xmlns:p14="http://schemas.microsoft.com/office/powerpoint/2010/main" val="1476941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4d29cc1044f1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0  /  检查规则">
            <a:extLst xmlns:a="http://schemas.openxmlformats.org/drawingml/2006/main">
              <a:ext uri="{FF2B5EF4-FFF2-40B4-BE49-F238E27FC236}">
                <a16:creationId xmlns:a16="http://schemas.microsoft.com/office/drawing/2014/main" id="{DC098D32-2515-4C1A-B4FB-510A0E66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10  /  检查规则</a:t>
            </a:r>
          </a:p>
        </p:txBody>
      </p:sp>
      <p:sp>
        <p:nvSpPr>
          <p:cNvPr id="3" name="缺少依据的条件继续显示待确认">
            <a:extLst xmlns:a="http://schemas.openxmlformats.org/drawingml/2006/main">
              <a:ext uri="{FF2B5EF4-FFF2-40B4-BE49-F238E27FC236}">
                <a16:creationId xmlns:a16="http://schemas.microsoft.com/office/drawing/2014/main" id="{DC39D1B0-DD5E-4306-AA9F-C266B4E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缺少依据的条件继续显示待确认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4504B-7971-415C-A506-3E878D52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1118F490-4091-42BA-A527-281046B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1 / 20">
            <a:extLst xmlns:a="http://schemas.openxmlformats.org/drawingml/2006/main">
              <a:ext uri="{FF2B5EF4-FFF2-40B4-BE49-F238E27FC236}">
                <a16:creationId xmlns:a16="http://schemas.microsoft.com/office/drawing/2014/main" id="{47311526-0022-4CB8-B5BC-2A3974D8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11 / 20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28650" y="1800225"/>
          <a:ext xmlns:a="http://schemas.openxmlformats.org/drawingml/2006/main" cx="109347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333875"/>
                <a:gridCol w="4619625"/>
              </a:tblGrid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检查对象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程序能核对的内容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仍需补充的依据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每日负荷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游览 + 休息 + 已核算交通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未查询交通、内部交通与排队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地点条件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城市、跨城、必去与排除项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跨日转场、预约与开放情况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人均预算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填写费用合计与目标比较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门票、餐饮、住宿、交通、其他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时效与变更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路线变化或缓存过期后失效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当前交通，出发前再次确认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本次案例的预算300元仍是目标">
            <a:extLst xmlns:a="http://schemas.openxmlformats.org/drawingml/2006/main">
              <a:ext uri="{FF2B5EF4-FFF2-40B4-BE49-F238E27FC236}">
                <a16:creationId xmlns:a16="http://schemas.microsoft.com/office/drawing/2014/main" id="{8DB22D20-05D7-440D-A3DC-C9B34D0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本次案例的预算300元仍是目标</a:t>
            </a:r>
          </a:p>
        </p:txBody>
      </p:sp>
      <p:sp>
        <p:nvSpPr>
          <p:cNvPr id="9" name="费用空白表示未知，不能视为0元，也不能宣布预算已满足">
            <a:extLst xmlns:a="http://schemas.openxmlformats.org/drawingml/2006/main">
              <a:ext uri="{FF2B5EF4-FFF2-40B4-BE49-F238E27FC236}">
                <a16:creationId xmlns:a16="http://schemas.microsoft.com/office/drawing/2014/main" id="{1D432B34-0457-4696-934A-3BF8CC7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费用空白表示未知，不能视为0元，也不能宣布预算已满足</a:t>
            </a:r>
          </a:p>
        </p:txBody>
      </p:sp>
    </p:spTree>
    <p:extLst>
      <p:ext uri="{BB962C8B-B14F-4D97-AF65-F5344CB8AC3E}">
        <p14:creationId xmlns:p14="http://schemas.microsoft.com/office/powerpoint/2010/main" val="2102688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147b0708e481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1  /  AI与确定性约束">
            <a:extLst xmlns:a="http://schemas.openxmlformats.org/drawingml/2006/main">
              <a:ext uri="{FF2B5EF4-FFF2-40B4-BE49-F238E27FC236}">
                <a16:creationId xmlns:a16="http://schemas.microsoft.com/office/drawing/2014/main" id="{EBA26AED-3725-4E71-91FE-2FB507B2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11  /  AI与确定性约束</a:t>
            </a:r>
          </a:p>
        </p:txBody>
      </p:sp>
      <p:sp>
        <p:nvSpPr>
          <p:cNvPr id="3" name="模型建议先通过结构与业务校验">
            <a:extLst xmlns:a="http://schemas.openxmlformats.org/drawingml/2006/main">
              <a:ext uri="{FF2B5EF4-FFF2-40B4-BE49-F238E27FC236}">
                <a16:creationId xmlns:a16="http://schemas.microsoft.com/office/drawing/2014/main" id="{4432F857-E908-4271-B5EA-1FBC9D60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模型建议先通过结构与业务校验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DCD1-F183-4DF8-B329-0BF7664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AE23B819-82F2-476C-9F84-4404884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2 / 20">
            <a:extLst xmlns:a="http://schemas.openxmlformats.org/drawingml/2006/main">
              <a:ext uri="{FF2B5EF4-FFF2-40B4-BE49-F238E27FC236}">
                <a16:creationId xmlns:a16="http://schemas.microsoft.com/office/drawing/2014/main" id="{986E1B49-FB1E-4730-903F-EA215ED4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12 / 20</a:t>
            </a:r>
          </a:p>
        </p:txBody>
      </p:sp>
      <p:sp>
        <p:nvSpPr>
          <p:cNvPr id="7" name="用户确认条件">
            <a:extLst xmlns:a="http://schemas.openxmlformats.org/drawingml/2006/main">
              <a:ext uri="{FF2B5EF4-FFF2-40B4-BE49-F238E27FC236}">
                <a16:creationId xmlns:a16="http://schemas.microsoft.com/office/drawing/2014/main" id="{AE3AB4D3-4F67-4636-90A5-CDACB7A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31432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8" name="用户确认条件">
            <a:extLst xmlns:a="http://schemas.openxmlformats.org/drawingml/2006/main">
              <a:ext uri="{FF2B5EF4-FFF2-40B4-BE49-F238E27FC236}">
                <a16:creationId xmlns:a16="http://schemas.microsoft.com/office/drawing/2014/main" id="{EF750909-CD6D-4061-8804-E1A89863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907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用户确认条件</a:t>
            </a:r>
          </a:p>
        </p:txBody>
      </p:sp>
      <p:sp>
        <p:nvSpPr>
          <p:cNvPr id="9" name="城市、天数、预算、偏好">
            <a:extLst xmlns:a="http://schemas.openxmlformats.org/drawingml/2006/main">
              <a:ext uri="{FF2B5EF4-FFF2-40B4-BE49-F238E27FC236}">
                <a16:creationId xmlns:a16="http://schemas.microsoft.com/office/drawing/2014/main" id="{81583D50-C8A3-458B-B1F2-44EF2AFA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城市、天数、预算、偏好</a:t>
            </a:r>
          </a:p>
        </p:txBody>
      </p:sp>
      <p:sp>
        <p:nvSpPr>
          <p:cNvPr id="10" name="候选生成">
            <a:extLst xmlns:a="http://schemas.openxmlformats.org/drawingml/2006/main">
              <a:ext uri="{FF2B5EF4-FFF2-40B4-BE49-F238E27FC236}">
                <a16:creationId xmlns:a16="http://schemas.microsoft.com/office/drawing/2014/main" id="{232701DA-6610-43E6-AAF5-B59AB442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31432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D4C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1" name="候选生成">
            <a:extLst xmlns:a="http://schemas.openxmlformats.org/drawingml/2006/main">
              <a:ext uri="{FF2B5EF4-FFF2-40B4-BE49-F238E27FC236}">
                <a16:creationId xmlns:a16="http://schemas.microsoft.com/office/drawing/2014/main" id="{7BE9E258-A11E-4E1F-8CAC-5CF0C55D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907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候选生成</a:t>
            </a:r>
          </a:p>
        </p:txBody>
      </p:sp>
      <p:sp>
        <p:nvSpPr>
          <p:cNvPr id="12" name="模型分日或规则分日">
            <a:extLst xmlns:a="http://schemas.openxmlformats.org/drawingml/2006/main">
              <a:ext uri="{FF2B5EF4-FFF2-40B4-BE49-F238E27FC236}">
                <a16:creationId xmlns:a16="http://schemas.microsoft.com/office/drawing/2014/main" id="{975EE4D7-7482-4303-8412-9C118E3E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907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5E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9E5E8"/>
                </a:solidFill>
                <a:latin typeface="Noto Sans SC"/>
                <a:ea typeface="Noto Sans SC"/>
                <a:cs typeface="Noto Sans SC"/>
              </a:rPr>
              <a:t>模型分日或规则分日</a:t>
            </a:r>
          </a:p>
        </p:txBody>
      </p:sp>
      <p:sp>
        <p:nvSpPr>
          <p:cNvPr id="13" name="结果校验">
            <a:extLst xmlns:a="http://schemas.openxmlformats.org/drawingml/2006/main">
              <a:ext uri="{FF2B5EF4-FFF2-40B4-BE49-F238E27FC236}">
                <a16:creationId xmlns:a16="http://schemas.microsoft.com/office/drawing/2014/main" id="{132540FD-0CF9-4A7C-9D3F-3824E35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1432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4" name="结果校验">
            <a:extLst xmlns:a="http://schemas.openxmlformats.org/drawingml/2006/main">
              <a:ext uri="{FF2B5EF4-FFF2-40B4-BE49-F238E27FC236}">
                <a16:creationId xmlns:a16="http://schemas.microsoft.com/office/drawing/2014/main" id="{928BA24F-B8A6-4786-9DA2-13B329C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907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结果校验</a:t>
            </a:r>
          </a:p>
        </p:txBody>
      </p:sp>
      <p:sp>
        <p:nvSpPr>
          <p:cNvPr id="15" name="合法数据与业务约束">
            <a:extLst xmlns:a="http://schemas.openxmlformats.org/drawingml/2006/main">
              <a:ext uri="{FF2B5EF4-FFF2-40B4-BE49-F238E27FC236}">
                <a16:creationId xmlns:a16="http://schemas.microsoft.com/office/drawing/2014/main" id="{2101D23E-3BDF-4DFE-B59C-F02D0E7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907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合法数据与业务约束</a:t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71900" y="2366963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67625" y="2366963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sp>
        <p:nvSpPr>
          <p:cNvPr id="18" name="程序保护">
            <a:extLst xmlns:a="http://schemas.openxmlformats.org/drawingml/2006/main">
              <a:ext uri="{FF2B5EF4-FFF2-40B4-BE49-F238E27FC236}">
                <a16:creationId xmlns:a16="http://schemas.microsoft.com/office/drawing/2014/main" id="{742E518E-FD9B-4123-A7FE-880DF7F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程序保护</a:t>
            </a:r>
          </a:p>
        </p:txBody>
      </p:sp>
      <p:sp>
        <p:nvSpPr>
          <p:cNvPr id="19" name="目录地点ID与地点完整性&#10;固定日期与单日作用范围&#10;必去项、排除项与数字条件">
            <a:extLst xmlns:a="http://schemas.openxmlformats.org/drawingml/2006/main">
              <a:ext uri="{FF2B5EF4-FFF2-40B4-BE49-F238E27FC236}">
                <a16:creationId xmlns:a16="http://schemas.microsoft.com/office/drawing/2014/main" id="{6D8394E8-4CAB-4690-800A-78C8A6C5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1530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目录地点ID与地点完整性</a:t>
            </a:r>
          </a:p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固定日期与单日作用范围</a:t>
            </a:r>
          </a:p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必去项、排除项与数字条件</a:t>
            </a:r>
          </a:p>
        </p:txBody>
      </p:sp>
      <p:sp>
        <p:nvSpPr>
          <p:cNvPr id="20" name="人工与外部数据补足">
            <a:extLst xmlns:a="http://schemas.openxmlformats.org/drawingml/2006/main">
              <a:ext uri="{FF2B5EF4-FFF2-40B4-BE49-F238E27FC236}">
                <a16:creationId xmlns:a16="http://schemas.microsoft.com/office/drawing/2014/main" id="{B2AA8B01-2609-49A9-BD03-E7601C9C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人工与外部数据补足</a:t>
            </a:r>
          </a:p>
        </p:txBody>
      </p:sp>
      <p:sp>
        <p:nvSpPr>
          <p:cNvPr id="21" name="用户确认提取出的条件&#10;高德核算具体站间交通&#10;用户填写费用并核实预约">
            <a:extLst xmlns:a="http://schemas.openxmlformats.org/drawingml/2006/main">
              <a:ext uri="{FF2B5EF4-FFF2-40B4-BE49-F238E27FC236}">
                <a16:creationId xmlns:a16="http://schemas.microsoft.com/office/drawing/2014/main" id="{E4D5CB13-5989-4988-8008-BB22FDFF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5143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用户确认提取出的条件</a:t>
            </a:r>
          </a:p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高德核算具体站间交通</a:t>
            </a:r>
          </a:p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用户填写费用并核实预约</a:t>
            </a:r>
          </a:p>
        </p:txBody>
      </p:sp>
      <p:sp>
        <p:nvSpPr>
          <p:cNvPr id="22" name="非法结果、请求失败或额度不足时，返回可标识的规则结果">
            <a:extLst xmlns:a="http://schemas.openxmlformats.org/drawingml/2006/main">
              <a:ext uri="{FF2B5EF4-FFF2-40B4-BE49-F238E27FC236}">
                <a16:creationId xmlns:a16="http://schemas.microsoft.com/office/drawing/2014/main" id="{5111CFB3-3815-4C81-8887-3F9FEA87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非法结果、请求失败或额度不足时，返回可标识的规则结果</a:t>
            </a:r>
          </a:p>
        </p:txBody>
      </p:sp>
    </p:spTree>
    <p:extLst>
      <p:ext uri="{BB962C8B-B14F-4D97-AF65-F5344CB8AC3E}">
        <p14:creationId xmlns:p14="http://schemas.microsoft.com/office/powerpoint/2010/main" val="121438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94af5e16f49b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2  /  系统架构">
            <a:extLst xmlns:a="http://schemas.openxmlformats.org/drawingml/2006/main">
              <a:ext uri="{FF2B5EF4-FFF2-40B4-BE49-F238E27FC236}">
                <a16:creationId xmlns:a16="http://schemas.microsoft.com/office/drawing/2014/main" id="{8DD664DF-7BC3-4AA4-B62B-93A387A9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12  /  系统架构</a:t>
            </a:r>
          </a:p>
        </p:txBody>
      </p:sp>
      <p:sp>
        <p:nvSpPr>
          <p:cNvPr id="3" name="共享决策核心，服务端统一连接外部能力">
            <a:extLst xmlns:a="http://schemas.openxmlformats.org/drawingml/2006/main">
              <a:ext uri="{FF2B5EF4-FFF2-40B4-BE49-F238E27FC236}">
                <a16:creationId xmlns:a16="http://schemas.microsoft.com/office/drawing/2014/main" id="{AF248C93-B74B-45C9-92FA-87B136CA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共享决策核心，服务端统一连接外部能力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D903F-FCBF-464D-8025-104D77D4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9E200F3E-4F74-468B-9077-7A10CC5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3 / 20">
            <a:extLst xmlns:a="http://schemas.openxmlformats.org/drawingml/2006/main">
              <a:ext uri="{FF2B5EF4-FFF2-40B4-BE49-F238E27FC236}">
                <a16:creationId xmlns:a16="http://schemas.microsoft.com/office/drawing/2014/main" id="{879DA406-F93F-4723-A0D6-A6013099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13 / 20</a:t>
            </a:r>
          </a:p>
        </p:txBody>
      </p:sp>
      <p:sp>
        <p:nvSpPr>
          <p:cNvPr id="7" name="浏览器四视图">
            <a:extLst xmlns:a="http://schemas.openxmlformats.org/drawingml/2006/main">
              <a:ext uri="{FF2B5EF4-FFF2-40B4-BE49-F238E27FC236}">
                <a16:creationId xmlns:a16="http://schemas.microsoft.com/office/drawing/2014/main" id="{5ACBDEF6-8841-4231-B902-7CFDE72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10934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D4C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8" name="浏览器四视图">
            <a:extLst xmlns:a="http://schemas.openxmlformats.org/drawingml/2006/main">
              <a:ext uri="{FF2B5EF4-FFF2-40B4-BE49-F238E27FC236}">
                <a16:creationId xmlns:a16="http://schemas.microsoft.com/office/drawing/2014/main" id="{BDD90464-DD9B-4871-A75D-11453C7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1055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浏览器四视图</a:t>
            </a:r>
          </a:p>
        </p:txBody>
      </p:sp>
      <p:sp>
        <p:nvSpPr>
          <p:cNvPr id="9" name="主题路线、地图规划、行程总览、行程检查">
            <a:extLst xmlns:a="http://schemas.openxmlformats.org/drawingml/2006/main">
              <a:ext uri="{FF2B5EF4-FFF2-40B4-BE49-F238E27FC236}">
                <a16:creationId xmlns:a16="http://schemas.microsoft.com/office/drawing/2014/main" id="{29059DD5-5375-4366-B5B4-DEA9DDEE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5E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9E5E8"/>
                </a:solidFill>
                <a:latin typeface="Noto Sans SC"/>
                <a:ea typeface="Noto Sans SC"/>
                <a:cs typeface="Noto Sans SC"/>
              </a:rPr>
              <a:t>主题路线、地图规划、行程总览、行程检查</a:t>
            </a:r>
          </a:p>
        </p:txBody>
      </p:sp>
      <p:sp>
        <p:nvSpPr>
          <p:cNvPr id="10" name="共享决策核心">
            <a:extLst xmlns:a="http://schemas.openxmlformats.org/drawingml/2006/main">
              <a:ext uri="{FF2B5EF4-FFF2-40B4-BE49-F238E27FC236}">
                <a16:creationId xmlns:a16="http://schemas.microsoft.com/office/drawing/2014/main" id="{B6510BE8-D584-44D6-8DA5-6CF1B200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510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1" name="共享决策核心">
            <a:extLst xmlns:a="http://schemas.openxmlformats.org/drawingml/2006/main">
              <a:ext uri="{FF2B5EF4-FFF2-40B4-BE49-F238E27FC236}">
                <a16:creationId xmlns:a16="http://schemas.microsoft.com/office/drawing/2014/main" id="{EC92D80C-1BEB-47E7-A947-E2F52AC3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共享决策核心</a:t>
            </a:r>
          </a:p>
        </p:txBody>
      </p:sp>
      <p:sp>
        <p:nvSpPr>
          <p:cNvPr id="12" name="需求校验、候选检查、规则分日">
            <a:extLst xmlns:a="http://schemas.openxmlformats.org/drawingml/2006/main">
              <a:ext uri="{FF2B5EF4-FFF2-40B4-BE49-F238E27FC236}">
                <a16:creationId xmlns:a16="http://schemas.microsoft.com/office/drawing/2014/main" id="{1706E5A3-9EE1-41B2-AB94-BC54422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4724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需求校验、候选检查、规则分日</a:t>
            </a:r>
          </a:p>
        </p:txBody>
      </p:sp>
      <p:sp>
        <p:nvSpPr>
          <p:cNvPr id="13" name="服务端API">
            <a:extLst xmlns:a="http://schemas.openxmlformats.org/drawingml/2006/main">
              <a:ext uri="{FF2B5EF4-FFF2-40B4-BE49-F238E27FC236}">
                <a16:creationId xmlns:a16="http://schemas.microsoft.com/office/drawing/2014/main" id="{4ACD3394-9CF7-4CA9-A27A-F3DABE40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71825"/>
            <a:ext cx="5095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14" name="服务端API">
            <a:extLst xmlns:a="http://schemas.openxmlformats.org/drawingml/2006/main">
              <a:ext uri="{FF2B5EF4-FFF2-40B4-BE49-F238E27FC236}">
                <a16:creationId xmlns:a16="http://schemas.microsoft.com/office/drawing/2014/main" id="{6708EFD0-641D-43E0-872F-BA071EF0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4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服务端API</a:t>
            </a:r>
          </a:p>
        </p:txBody>
      </p:sp>
      <p:sp>
        <p:nvSpPr>
          <p:cNvPr id="15" name="目录、草稿、模型与安全代理">
            <a:extLst xmlns:a="http://schemas.openxmlformats.org/drawingml/2006/main">
              <a:ext uri="{FF2B5EF4-FFF2-40B4-BE49-F238E27FC236}">
                <a16:creationId xmlns:a16="http://schemas.microsoft.com/office/drawing/2014/main" id="{BAAD9F12-29A5-4085-B78D-7E6083F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24275"/>
            <a:ext cx="4714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目录、草稿、模型与安全代理</a:t>
            </a:r>
          </a:p>
        </p:txBody>
      </p:sp>
      <p:cxnSp>
        <p:nvCxnSpPr>
          <p:cNvPr id="47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181350" y="2619375"/>
            <a:ext cx="29146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619375"/>
            <a:ext cx="2919413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34050" y="3671888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sp>
        <p:nvSpPr>
          <p:cNvPr id="19" name="D1 与精选目录">
            <a:extLst xmlns:a="http://schemas.openxmlformats.org/drawingml/2006/main">
              <a:ext uri="{FF2B5EF4-FFF2-40B4-BE49-F238E27FC236}">
                <a16:creationId xmlns:a16="http://schemas.microsoft.com/office/drawing/2014/main" id="{90D7CD71-2CEE-41EF-AF78-BB41410A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3209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20" name="D1 与精选目录">
            <a:extLst xmlns:a="http://schemas.openxmlformats.org/drawingml/2006/main">
              <a:ext uri="{FF2B5EF4-FFF2-40B4-BE49-F238E27FC236}">
                <a16:creationId xmlns:a16="http://schemas.microsoft.com/office/drawing/2014/main" id="{B57A99E0-98C7-481F-AC15-5C3FE05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2828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D1 与精选目录</a:t>
            </a:r>
          </a:p>
        </p:txBody>
      </p:sp>
      <p:sp>
        <p:nvSpPr>
          <p:cNvPr id="21" name="认证用户草稿、版本、配额">
            <a:extLst xmlns:a="http://schemas.openxmlformats.org/drawingml/2006/main">
              <a:ext uri="{FF2B5EF4-FFF2-40B4-BE49-F238E27FC236}">
                <a16:creationId xmlns:a16="http://schemas.microsoft.com/office/drawing/2014/main" id="{F79A5745-5031-4230-865B-D4FE0561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认证用户草稿、版本、配额</a:t>
            </a:r>
          </a:p>
        </p:txBody>
      </p:sp>
      <p:sp>
        <p:nvSpPr>
          <p:cNvPr id="22" name="高德服务">
            <a:extLst xmlns:a="http://schemas.openxmlformats.org/drawingml/2006/main">
              <a:ext uri="{FF2B5EF4-FFF2-40B4-BE49-F238E27FC236}">
                <a16:creationId xmlns:a16="http://schemas.microsoft.com/office/drawing/2014/main" id="{CA5675F1-5762-408E-A8D2-8521D34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29175"/>
            <a:ext cx="3209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23" name="高德服务">
            <a:extLst xmlns:a="http://schemas.openxmlformats.org/drawingml/2006/main">
              <a:ext uri="{FF2B5EF4-FFF2-40B4-BE49-F238E27FC236}">
                <a16:creationId xmlns:a16="http://schemas.microsoft.com/office/drawing/2014/main" id="{45AD0658-94EC-4C22-8DF3-5431655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981575"/>
            <a:ext cx="2828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高德服务</a:t>
            </a:r>
          </a:p>
        </p:txBody>
      </p:sp>
      <p:sp>
        <p:nvSpPr>
          <p:cNvPr id="24" name="POI、照片与站间交通">
            <a:extLst xmlns:a="http://schemas.openxmlformats.org/drawingml/2006/main">
              <a:ext uri="{FF2B5EF4-FFF2-40B4-BE49-F238E27FC236}">
                <a16:creationId xmlns:a16="http://schemas.microsoft.com/office/drawing/2014/main" id="{C53F618B-6C68-407C-A305-D0A0706B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38162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POI、照片与站间交通</a:t>
            </a:r>
          </a:p>
        </p:txBody>
      </p:sp>
      <p:sp>
        <p:nvSpPr>
          <p:cNvPr id="25" name="讯飞星火 X2.5">
            <a:extLst xmlns:a="http://schemas.openxmlformats.org/drawingml/2006/main">
              <a:ext uri="{FF2B5EF4-FFF2-40B4-BE49-F238E27FC236}">
                <a16:creationId xmlns:a16="http://schemas.microsoft.com/office/drawing/2014/main" id="{61D9AA2A-2A6F-4AC8-94D5-959A4266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29175"/>
            <a:ext cx="3209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E"/>
            </a:solidFill>
          </a:ln>
        </p:spPr>
      </p:sp>
      <p:sp>
        <p:nvSpPr>
          <p:cNvPr id="26" name="讯飞星火 X2.5">
            <a:extLst xmlns:a="http://schemas.openxmlformats.org/drawingml/2006/main">
              <a:ext uri="{FF2B5EF4-FFF2-40B4-BE49-F238E27FC236}">
                <a16:creationId xmlns:a16="http://schemas.microsoft.com/office/drawing/2014/main" id="{B4E9CFB4-4DF5-4DF4-AD2B-71AAE79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81575"/>
            <a:ext cx="2828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讯飞星火 X2.5</a:t>
            </a:r>
          </a:p>
        </p:txBody>
      </p:sp>
      <p:sp>
        <p:nvSpPr>
          <p:cNvPr id="27" name="需求识别与候选分日">
            <a:extLst xmlns:a="http://schemas.openxmlformats.org/drawingml/2006/main">
              <a:ext uri="{FF2B5EF4-FFF2-40B4-BE49-F238E27FC236}">
                <a16:creationId xmlns:a16="http://schemas.microsoft.com/office/drawing/2014/main" id="{CB15B0A1-3DE6-4E3B-86F2-A32B09AA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8162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需求识别与候选分日</a:t>
            </a:r>
          </a:p>
        </p:txBody>
      </p:sp>
      <p:cxnSp>
        <p:nvCxnSpPr>
          <p:cNvPr id="59" name=""/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2233613" y="4171950"/>
            <a:ext cx="678180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6091238" y="4171950"/>
            <a:ext cx="292417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015413" y="4171950"/>
            <a:ext cx="93345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6F79"/>
            </a:solidFill>
            <a:tailEnd type="triangle" w="sm" len="sm"/>
          </a:ln>
        </p:spPr>
      </p:cxnSp>
      <p:sp>
        <p:nvSpPr>
          <p:cNvPr id="31" name="模型Key与高德安全密钥仅在服务端使用">
            <a:extLst xmlns:a="http://schemas.openxmlformats.org/drawingml/2006/main">
              <a:ext uri="{FF2B5EF4-FFF2-40B4-BE49-F238E27FC236}">
                <a16:creationId xmlns:a16="http://schemas.microsoft.com/office/drawing/2014/main" id="{DA815ECA-D3AB-47F0-B878-47D75B13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934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模型Key与高德安全密钥仅在服务端使用</a:t>
            </a:r>
          </a:p>
        </p:txBody>
      </p:sp>
    </p:spTree>
    <p:extLst>
      <p:ext uri="{BB962C8B-B14F-4D97-AF65-F5344CB8AC3E}">
        <p14:creationId xmlns:p14="http://schemas.microsoft.com/office/powerpoint/2010/main" val="1626695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f1ff7f927418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3  /  异常与成本">
            <a:extLst xmlns:a="http://schemas.openxmlformats.org/drawingml/2006/main">
              <a:ext uri="{FF2B5EF4-FFF2-40B4-BE49-F238E27FC236}">
                <a16:creationId xmlns:a16="http://schemas.microsoft.com/office/drawing/2014/main" id="{907605F9-8B13-4752-8923-793F42A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13  /  异常与成本</a:t>
            </a:r>
          </a:p>
        </p:txBody>
      </p:sp>
      <p:sp>
        <p:nvSpPr>
          <p:cNvPr id="3" name="模型不可用时保留可运行的规则路径">
            <a:extLst xmlns:a="http://schemas.openxmlformats.org/drawingml/2006/main">
              <a:ext uri="{FF2B5EF4-FFF2-40B4-BE49-F238E27FC236}">
                <a16:creationId xmlns:a16="http://schemas.microsoft.com/office/drawing/2014/main" id="{16D4111C-823E-43B4-9318-1BDB3CD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模型不可用时保留可运行的规则路径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7B4E5-D8CA-46D8-91C7-989BE79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A8914CB3-AB7B-462F-8EF4-AC7E6D2A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4 / 20">
            <a:extLst xmlns:a="http://schemas.openxmlformats.org/drawingml/2006/main">
              <a:ext uri="{FF2B5EF4-FFF2-40B4-BE49-F238E27FC236}">
                <a16:creationId xmlns:a16="http://schemas.microsoft.com/office/drawing/2014/main" id="{3C1C12B4-BE01-4A5F-AFB4-C99504AF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14 / 20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28650" y="1781175"/>
          <a:ext xmlns:a="http://schemas.openxmlformats.org/drawingml/2006/main" cx="109347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6275"/>
                <a:gridCol w="6448425"/>
              </a:tblGrid>
              <a:tr h="5638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情形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处理方式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5638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未配置或明确选择规则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直接使用规则，界面显示实际来源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5638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模型异常、非法结果或25秒超时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返回规则结果，显示回退原因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额度不足或配额存储不可用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停止调用模型，按规则继续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5638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地图加载失败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保留精选内容，提供重试入口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另一请求实测：候选25秒超时，界面明确回退为规则结果">
            <a:extLst xmlns:a="http://schemas.openxmlformats.org/drawingml/2006/main">
              <a:ext uri="{FF2B5EF4-FFF2-40B4-BE49-F238E27FC236}">
                <a16:creationId xmlns:a16="http://schemas.microsoft.com/office/drawing/2014/main" id="{60628F8A-C40B-433C-BFAC-8B7FCD7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另一请求实测：候选25秒超时，界面明确回退为规则结果</a:t>
            </a:r>
          </a:p>
        </p:txBody>
      </p:sp>
      <p:sp>
        <p:nvSpPr>
          <p:cNvPr id="9" name="120 次 / 日">
            <a:extLst xmlns:a="http://schemas.openxmlformats.org/drawingml/2006/main">
              <a:ext uri="{FF2B5EF4-FFF2-40B4-BE49-F238E27FC236}">
                <a16:creationId xmlns:a16="http://schemas.microsoft.com/office/drawing/2014/main" id="{ABA65E33-E2DE-4DD4-8478-F2E7A41D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46577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30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120 次 / 日</a:t>
            </a:r>
          </a:p>
        </p:txBody>
      </p:sp>
      <p:sp>
        <p:nvSpPr>
          <p:cNvPr id="10" name="公共演示调用尝试上限">
            <a:extLst xmlns:a="http://schemas.openxmlformats.org/drawingml/2006/main">
              <a:ext uri="{FF2B5EF4-FFF2-40B4-BE49-F238E27FC236}">
                <a16:creationId xmlns:a16="http://schemas.microsoft.com/office/drawing/2014/main" id="{4E78AEA5-149D-4446-A54F-E74DACD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公共演示调用尝试上限</a:t>
            </a:r>
          </a:p>
        </p:txBody>
      </p:sp>
      <p:sp>
        <p:nvSpPr>
          <p:cNvPr id="11" name="10 次 / 客户端 / 日">
            <a:extLst xmlns:a="http://schemas.openxmlformats.org/drawingml/2006/main">
              <a:ext uri="{FF2B5EF4-FFF2-40B4-BE49-F238E27FC236}">
                <a16:creationId xmlns:a16="http://schemas.microsoft.com/office/drawing/2014/main" id="{1DCFC08B-7264-4DAD-81AD-75B3CCE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5353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30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10 次 / 客户端 / 日</a:t>
            </a:r>
          </a:p>
        </p:txBody>
      </p:sp>
      <p:sp>
        <p:nvSpPr>
          <p:cNvPr id="12" name="失败计数，不自动重试模型">
            <a:extLst xmlns:a="http://schemas.openxmlformats.org/drawingml/2006/main">
              <a:ext uri="{FF2B5EF4-FFF2-40B4-BE49-F238E27FC236}">
                <a16:creationId xmlns:a16="http://schemas.microsoft.com/office/drawing/2014/main" id="{0BB8AFEB-20A0-450C-8F9E-4A0ACD00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91175"/>
            <a:ext cx="535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失败计数，不自动重试模型</a:t>
            </a:r>
          </a:p>
        </p:txBody>
      </p:sp>
      <p:sp>
        <p:nvSpPr>
          <p:cNvPr id="13" name="按UTC日计数；次数配额不能替代模型账单金额上限">
            <a:extLst xmlns:a="http://schemas.openxmlformats.org/drawingml/2006/main">
              <a:ext uri="{FF2B5EF4-FFF2-40B4-BE49-F238E27FC236}">
                <a16:creationId xmlns:a16="http://schemas.microsoft.com/office/drawing/2014/main" id="{8B477351-1266-4A88-9063-E91F93EF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86475"/>
            <a:ext cx="1093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按UTC日计数；次数配额不能替代模型账单金额上限</a:t>
            </a:r>
          </a:p>
        </p:txBody>
      </p:sp>
    </p:spTree>
    <p:extLst>
      <p:ext uri="{BB962C8B-B14F-4D97-AF65-F5344CB8AC3E}">
        <p14:creationId xmlns:p14="http://schemas.microsoft.com/office/powerpoint/2010/main" val="12510751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eaf826c1d484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4  /  数据与离线">
            <a:extLst xmlns:a="http://schemas.openxmlformats.org/drawingml/2006/main">
              <a:ext uri="{FF2B5EF4-FFF2-40B4-BE49-F238E27FC236}">
                <a16:creationId xmlns:a16="http://schemas.microsoft.com/office/drawing/2014/main" id="{B1BC1090-C733-4AEC-A4E0-AD4E6ACA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14  /  数据与离线</a:t>
            </a:r>
          </a:p>
        </p:txBody>
      </p:sp>
      <p:sp>
        <p:nvSpPr>
          <p:cNvPr id="3" name="账号保存与离线展示各有清楚边界">
            <a:extLst xmlns:a="http://schemas.openxmlformats.org/drawingml/2006/main">
              <a:ext uri="{FF2B5EF4-FFF2-40B4-BE49-F238E27FC236}">
                <a16:creationId xmlns:a16="http://schemas.microsoft.com/office/drawing/2014/main" id="{951FE3D6-EFBE-48B0-81BF-454EEBA6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账号保存与离线展示各有清楚边界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47EDE-9577-4E40-A5F8-E2EAA1A6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905710B7-0C73-46C3-86F9-34F685A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5 / 20">
            <a:extLst xmlns:a="http://schemas.openxmlformats.org/drawingml/2006/main">
              <a:ext uri="{FF2B5EF4-FFF2-40B4-BE49-F238E27FC236}">
                <a16:creationId xmlns:a16="http://schemas.microsoft.com/office/drawing/2014/main" id="{F2DB0739-F25C-4406-BF2D-5CB95444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15 / 20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4124325"/>
                <a:gridCol w="4676775"/>
              </a:tblGrid>
              <a:tr h="7643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模式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可用能力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保存与恢复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7643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在线认证用户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地图、模型、交通、编辑与检查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D1按用户保存最新草稿</a:t>
                      </a:r>
                    </a:p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版本冲突拒绝覆盖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7643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在线访客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当前页规划、核算与检查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本页暂存，可导出JSON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离线文件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精选资料、照片、规则、编辑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导入导出JSON</a:t>
                      </a:r>
                    </a:p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不连接账号保存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8" name="异常保护">
            <a:extLst xmlns:a="http://schemas.openxmlformats.org/drawingml/2006/main">
              <a:ext uri="{FF2B5EF4-FFF2-40B4-BE49-F238E27FC236}">
                <a16:creationId xmlns:a16="http://schemas.microsoft.com/office/drawing/2014/main" id="{F7245B87-77E7-4689-B26E-E30D3A54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异常保护</a:t>
            </a:r>
          </a:p>
        </p:txBody>
      </p:sp>
      <p:sp>
        <p:nvSpPr>
          <p:cNvPr id="9" name="历史读取前暂停编辑，读取失败不覆盖历史&#10;保存失败保留输入，导入数据先校验">
            <a:extLst xmlns:a="http://schemas.openxmlformats.org/drawingml/2006/main">
              <a:ext uri="{FF2B5EF4-FFF2-40B4-BE49-F238E27FC236}">
                <a16:creationId xmlns:a16="http://schemas.microsoft.com/office/drawing/2014/main" id="{7E2B7172-55FB-41CE-B6DE-882F735C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00650"/>
            <a:ext cx="81534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历史读取前暂停编辑，读取失败不覆盖历史</a:t>
            </a:r>
          </a:p>
          <a:p xmlns:a="http://schemas.openxmlformats.org/drawingml/2006/main">
            <a:pPr algn="l">
              <a:def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保存失败保留输入，导入数据先校验</a:t>
            </a:r>
          </a:p>
        </p:txBody>
      </p:sp>
      <p:sp>
        <p:nvSpPr>
          <p:cNvPr id="10" name="离线版不提供在线地图、实时餐饮住宿查询或道路路线">
            <a:extLst xmlns:a="http://schemas.openxmlformats.org/drawingml/2006/main">
              <a:ext uri="{FF2B5EF4-FFF2-40B4-BE49-F238E27FC236}">
                <a16:creationId xmlns:a16="http://schemas.microsoft.com/office/drawing/2014/main" id="{ECDFFA9C-63B2-4B6F-9973-647B8C61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93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离线版不提供在线地图、实时餐饮住宿查询或道路路线</a:t>
            </a:r>
          </a:p>
        </p:txBody>
      </p:sp>
    </p:spTree>
    <p:extLst>
      <p:ext uri="{BB962C8B-B14F-4D97-AF65-F5344CB8AC3E}">
        <p14:creationId xmlns:p14="http://schemas.microsoft.com/office/powerpoint/2010/main" val="6201285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f4296838543b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5  /  验证证据">
            <a:extLst xmlns:a="http://schemas.openxmlformats.org/drawingml/2006/main">
              <a:ext uri="{FF2B5EF4-FFF2-40B4-BE49-F238E27FC236}">
                <a16:creationId xmlns:a16="http://schemas.microsoft.com/office/drawing/2014/main" id="{7422CBE9-C1BB-4B14-AFF2-0AE82AB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15  /  验证证据</a:t>
            </a:r>
          </a:p>
        </p:txBody>
      </p:sp>
      <p:sp>
        <p:nvSpPr>
          <p:cNvPr id="3" name="工程测试与真实操作分开报告">
            <a:extLst xmlns:a="http://schemas.openxmlformats.org/drawingml/2006/main">
              <a:ext uri="{FF2B5EF4-FFF2-40B4-BE49-F238E27FC236}">
                <a16:creationId xmlns:a16="http://schemas.microsoft.com/office/drawing/2014/main" id="{E2F8709A-D828-4F7C-83FB-AA7CA17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工程测试与真实操作分开报告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52C54-1F06-4EDF-93E5-5F20DC38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FC52F738-00B0-4D16-B218-11609351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6 / 20">
            <a:extLst xmlns:a="http://schemas.openxmlformats.org/drawingml/2006/main">
              <a:ext uri="{FF2B5EF4-FFF2-40B4-BE49-F238E27FC236}">
                <a16:creationId xmlns:a16="http://schemas.microsoft.com/office/drawing/2014/main" id="{19F34163-DC13-4EF6-B2BB-8B8F2E63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16 / 20</a:t>
            </a:r>
          </a:p>
        </p:txBody>
      </p:sp>
      <p:sp>
        <p:nvSpPr>
          <p:cNvPr id="7" name="7组基础脚本 / 66项回归 / 14项配额 / 12项边界">
            <a:extLst xmlns:a="http://schemas.openxmlformats.org/drawingml/2006/main">
              <a:ext uri="{FF2B5EF4-FFF2-40B4-BE49-F238E27FC236}">
                <a16:creationId xmlns:a16="http://schemas.microsoft.com/office/drawing/2014/main" id="{FA28F247-F682-42F0-A859-0DB47E67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109347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7组基础脚本 / 66项回归 / 14项配额 / 12项边界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28650" y="2762250"/>
          <a:ext xmlns:a="http://schemas.openxmlformats.org/drawingml/2006/main" cx="109347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24075"/>
                <a:gridCol w="4457700"/>
                <a:gridCol w="4352925"/>
              </a:tblGrid>
              <a:tr h="6405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证据层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本次覆盖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不能据此推出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6405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自动化测试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回归、模拟配额与新增边界</a:t>
                      </a:r>
                    </a:p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小数预算、复合否定、跨日交通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所有环境和输入均无缺陷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6405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在线端到端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X2.5识别、候选载入</a:t>
                      </a:r>
                    </a:p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高德公交、超限及超时回退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长期可用率、模型整体准确率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用户效果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已提供任务计时与反馈记录入口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效率提升、满意度或留存结果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9" name="2026.10.03验证 / v11已发布 / 用例通过仅代表本轮覆盖">
            <a:extLst xmlns:a="http://schemas.openxmlformats.org/drawingml/2006/main">
              <a:ext uri="{FF2B5EF4-FFF2-40B4-BE49-F238E27FC236}">
                <a16:creationId xmlns:a16="http://schemas.microsoft.com/office/drawing/2014/main" id="{27307ED0-9AC3-4A9E-839E-8105A2E0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2026.10.03验证 / v11已发布 / 用例通过仅代表本轮覆盖</a:t>
            </a:r>
          </a:p>
        </p:txBody>
      </p:sp>
      <p:sp>
        <p:nvSpPr>
          <p:cNvPr id="10" name="原始测试输出与截图随材料保存，尚无正式用户研究结论">
            <a:extLst xmlns:a="http://schemas.openxmlformats.org/drawingml/2006/main">
              <a:ext uri="{FF2B5EF4-FFF2-40B4-BE49-F238E27FC236}">
                <a16:creationId xmlns:a16="http://schemas.microsoft.com/office/drawing/2014/main" id="{3EF01C8C-284B-4A6D-9425-E1CFDBC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原始测试输出与截图随材料保存，尚无正式用户研究结论</a:t>
            </a:r>
          </a:p>
        </p:txBody>
      </p:sp>
    </p:spTree>
    <p:extLst>
      <p:ext uri="{BB962C8B-B14F-4D97-AF65-F5344CB8AC3E}">
        <p14:creationId xmlns:p14="http://schemas.microsoft.com/office/powerpoint/2010/main" val="20441922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eb289123d48b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6  /  效果验证计划">
            <a:extLst xmlns:a="http://schemas.openxmlformats.org/drawingml/2006/main">
              <a:ext uri="{FF2B5EF4-FFF2-40B4-BE49-F238E27FC236}">
                <a16:creationId xmlns:a16="http://schemas.microsoft.com/office/drawing/2014/main" id="{83CA71F9-8941-4B11-AFE4-A78808E1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16  /  效果验证计划</a:t>
            </a:r>
          </a:p>
        </p:txBody>
      </p:sp>
      <p:sp>
        <p:nvSpPr>
          <p:cNvPr id="3" name="用相同任务比较规划过程">
            <a:extLst xmlns:a="http://schemas.openxmlformats.org/drawingml/2006/main">
              <a:ext uri="{FF2B5EF4-FFF2-40B4-BE49-F238E27FC236}">
                <a16:creationId xmlns:a16="http://schemas.microsoft.com/office/drawing/2014/main" id="{0EBFBF26-081C-44D5-954F-A05192E7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用相同任务比较规划过程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7C159-76AF-47DF-8113-DB3B07D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01F1D2BA-1A22-47D2-833A-93B3DA36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7 / 20">
            <a:extLst xmlns:a="http://schemas.openxmlformats.org/drawingml/2006/main">
              <a:ext uri="{FF2B5EF4-FFF2-40B4-BE49-F238E27FC236}">
                <a16:creationId xmlns:a16="http://schemas.microsoft.com/office/drawing/2014/main" id="{7124E960-53D6-4A5A-8238-DF84B8F6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17 / 20</a:t>
            </a:r>
          </a:p>
        </p:txBody>
      </p:sp>
      <p:sp>
        <p:nvSpPr>
          <p:cNvPr id="7" name="拟邀请12—20名志愿体验者">
            <a:extLst xmlns:a="http://schemas.openxmlformats.org/drawingml/2006/main">
              <a:ext uri="{FF2B5EF4-FFF2-40B4-BE49-F238E27FC236}">
                <a16:creationId xmlns:a16="http://schemas.microsoft.com/office/drawing/2014/main" id="{41FCB386-3BB3-4B5D-9FB1-229DA52B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拟邀请12—20名志愿体验者</a:t>
            </a:r>
          </a:p>
        </p:txBody>
      </p:sp>
      <p:sp>
        <p:nvSpPr>
          <p:cNvPr id="8" name="同一旅行目标，比较原有方法与本项目&#10;任务顺序交替，减少先做一遍带来的学习影响">
            <a:extLst xmlns:a="http://schemas.openxmlformats.org/drawingml/2006/main">
              <a:ext uri="{FF2B5EF4-FFF2-40B4-BE49-F238E27FC236}">
                <a16:creationId xmlns:a16="http://schemas.microsoft.com/office/drawing/2014/main" id="{3C468BF2-05FE-457E-AA25-5C53D77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093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同一旅行目标，比较原有方法与本项目</a:t>
            </a:r>
          </a:p>
          <a:p xmlns:a="http://schemas.openxmlformats.org/drawingml/2006/main">
            <a:pPr algn="l">
              <a:def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任务顺序交替，减少先做一遍带来的学习影响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28650" y="3571875"/>
          <a:ext xmlns:a="http://schemas.openxmlformats.org/drawingml/2006/main" cx="109347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81525"/>
                <a:gridCol w="6353175"/>
              </a:tblGrid>
              <a:tr h="5357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记录内容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用途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5357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任务完成与条件遗漏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检查计划是否满足给定的可核对条件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5357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用时、编辑次数、结束时未确认项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定位操作成本与易错环节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评分、文字反馈与失败记录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解释差异，明确后续修复优先级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10" name="当前为研究方案；原方法用时由用户填写，不自动得出提升比例">
            <a:extLst xmlns:a="http://schemas.openxmlformats.org/drawingml/2006/main">
              <a:ext uri="{FF2B5EF4-FFF2-40B4-BE49-F238E27FC236}">
                <a16:creationId xmlns:a16="http://schemas.microsoft.com/office/drawing/2014/main" id="{75D867C4-950F-4B38-AB0F-8336F3B6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当前为研究方案；原方法用时由用户填写，不自动得出提升比例</a:t>
            </a:r>
          </a:p>
        </p:txBody>
      </p:sp>
    </p:spTree>
    <p:extLst>
      <p:ext uri="{BB962C8B-B14F-4D97-AF65-F5344CB8AC3E}">
        <p14:creationId xmlns:p14="http://schemas.microsoft.com/office/powerpoint/2010/main" val="15269347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ebedc53e24db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7  /  应用与可行性">
            <a:extLst xmlns:a="http://schemas.openxmlformats.org/drawingml/2006/main">
              <a:ext uri="{FF2B5EF4-FFF2-40B4-BE49-F238E27FC236}">
                <a16:creationId xmlns:a16="http://schemas.microsoft.com/office/drawing/2014/main" id="{B0CBB847-D603-4021-80DD-8171E83F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17  /  应用与可行性</a:t>
            </a:r>
          </a:p>
        </p:txBody>
      </p:sp>
      <p:sp>
        <p:nvSpPr>
          <p:cNvPr id="3" name="先验证河南短途游的实际使用价值">
            <a:extLst xmlns:a="http://schemas.openxmlformats.org/drawingml/2006/main">
              <a:ext uri="{FF2B5EF4-FFF2-40B4-BE49-F238E27FC236}">
                <a16:creationId xmlns:a16="http://schemas.microsoft.com/office/drawing/2014/main" id="{DE9CC0CE-3F0C-44DC-8CD3-19A8AC5F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先验证河南短途游的实际使用价值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B0D39-6B99-4047-ADC3-7A48228A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4EF14C3B-B19D-466A-85B0-A5704FD2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8 / 20">
            <a:extLst xmlns:a="http://schemas.openxmlformats.org/drawingml/2006/main">
              <a:ext uri="{FF2B5EF4-FFF2-40B4-BE49-F238E27FC236}">
                <a16:creationId xmlns:a16="http://schemas.microsoft.com/office/drawing/2014/main" id="{669C3B1D-DA7A-4E68-BCD7-68CEF1F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18 / 20</a:t>
            </a:r>
          </a:p>
        </p:txBody>
      </p:sp>
      <p:sp>
        <p:nvSpPr>
          <p:cNvPr id="7" name="首批试点场景">
            <a:extLst xmlns:a="http://schemas.openxmlformats.org/drawingml/2006/main">
              <a:ext uri="{FF2B5EF4-FFF2-40B4-BE49-F238E27FC236}">
                <a16:creationId xmlns:a16="http://schemas.microsoft.com/office/drawing/2014/main" id="{E6395898-E3FC-47D2-8D32-7A0A1433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497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首批试点场景</a:t>
            </a:r>
          </a:p>
        </p:txBody>
      </p:sp>
      <p:sp>
        <p:nvSpPr>
          <p:cNvPr id="8" name="已有想去的地点，&#10;希望把两天排得更合理">
            <a:extLst xmlns:a="http://schemas.openxmlformats.org/drawingml/2006/main">
              <a:ext uri="{FF2B5EF4-FFF2-40B4-BE49-F238E27FC236}">
                <a16:creationId xmlns:a16="http://schemas.microsoft.com/office/drawing/2014/main" id="{F025E7B8-2E95-43EB-B57D-A2C6AAC9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1339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已有想去的地点，</a:t>
            </a:r>
          </a:p>
          <a:p xmlns:a="http://schemas.openxmlformats.org/drawingml/2006/main">
            <a:pPr algn="l">
              <a:defRPr sz="24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希望把两天排得更合理</a:t>
            </a:r>
          </a:p>
        </p:txBody>
      </p:sp>
      <p:sp>
        <p:nvSpPr>
          <p:cNvPr id="9" name="高校学生与年轻旅行者&#10;先观察完成任务与愿意再次使用">
            <a:extLst xmlns:a="http://schemas.openxmlformats.org/drawingml/2006/main">
              <a:ext uri="{FF2B5EF4-FFF2-40B4-BE49-F238E27FC236}">
                <a16:creationId xmlns:a16="http://schemas.microsoft.com/office/drawing/2014/main" id="{55A88444-D20F-4F86-AE1B-49CDA46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51339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高校学生与年轻旅行者</a:t>
            </a:r>
          </a:p>
          <a:p xmlns:a="http://schemas.openxmlformats.org/drawingml/2006/main">
            <a:pPr algn="l">
              <a:def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先观察完成任务与愿意再次使用</a:t>
            </a:r>
          </a:p>
        </p:txBody>
      </p:sp>
      <p:sp>
        <p:nvSpPr>
          <p:cNvPr id="10" name="地图与攻略协同">
            <a:extLst xmlns:a="http://schemas.openxmlformats.org/drawingml/2006/main">
              <a:ext uri="{FF2B5EF4-FFF2-40B4-BE49-F238E27FC236}">
                <a16:creationId xmlns:a16="http://schemas.microsoft.com/office/drawing/2014/main" id="{DE181728-0F9C-46D8-83B8-71C82465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30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地图与攻略协同</a:t>
            </a:r>
          </a:p>
        </p:txBody>
      </p:sp>
      <p:sp>
        <p:nvSpPr>
          <p:cNvPr id="11" name="地图查询位置与交通，攻略提供兴趣&#10;本项目连接条件、修改和检查">
            <a:extLst xmlns:a="http://schemas.openxmlformats.org/drawingml/2006/main">
              <a:ext uri="{FF2B5EF4-FFF2-40B4-BE49-F238E27FC236}">
                <a16:creationId xmlns:a16="http://schemas.microsoft.com/office/drawing/2014/main" id="{627B0DAF-21B9-4CC0-BF30-BA015D9A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51339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地图查询位置与交通，攻略提供兴趣</a:t>
            </a:r>
          </a:p>
          <a:p xmlns:a="http://schemas.openxmlformats.org/drawingml/2006/main">
            <a:pPr algn="l">
              <a:def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本项目连接条件、修改和检查</a:t>
            </a:r>
          </a:p>
        </p:txBody>
      </p:sp>
      <p:sp>
        <p:nvSpPr>
          <p:cNvPr id="12" name="成本与商业探索">
            <a:extLst xmlns:a="http://schemas.openxmlformats.org/drawingml/2006/main">
              <a:ext uri="{FF2B5EF4-FFF2-40B4-BE49-F238E27FC236}">
                <a16:creationId xmlns:a16="http://schemas.microsoft.com/office/drawing/2014/main" id="{8075FAD0-B3DC-4805-890B-E3F644C2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512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成本与商业探索</a:t>
            </a:r>
          </a:p>
        </p:txBody>
      </p:sp>
      <p:sp>
        <p:nvSpPr>
          <p:cNvPr id="13" name="按真实模型与地图用量记账&#10;维护六城资料，控制验证范围&#10;合作与增值服务仍是待验证假设">
            <a:extLst xmlns:a="http://schemas.openxmlformats.org/drawingml/2006/main">
              <a:ext uri="{FF2B5EF4-FFF2-40B4-BE49-F238E27FC236}">
                <a16:creationId xmlns:a16="http://schemas.microsoft.com/office/drawing/2014/main" id="{8634EE1B-8161-4492-AF97-7577E059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51339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按真实模型与地图用量记账</a:t>
            </a:r>
          </a:p>
          <a:p xmlns:a="http://schemas.openxmlformats.org/drawingml/2006/main">
            <a:pPr algn="l">
              <a:def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维护六城资料，控制验证范围</a:t>
            </a:r>
          </a:p>
          <a:p xmlns:a="http://schemas.openxmlformats.org/drawingml/2006/main">
            <a:pPr algn="l">
              <a:def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合作与增值服务仍是待验证假设</a:t>
            </a:r>
          </a:p>
        </p:txBody>
      </p:sp>
      <p:sp>
        <p:nvSpPr>
          <p:cNvPr id="14" name="当前无合同与收入，也未提供预订或支付">
            <a:extLst xmlns:a="http://schemas.openxmlformats.org/drawingml/2006/main">
              <a:ext uri="{FF2B5EF4-FFF2-40B4-BE49-F238E27FC236}">
                <a16:creationId xmlns:a16="http://schemas.microsoft.com/office/drawing/2014/main" id="{14623203-E1F1-485D-A247-8FC03AD3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当前无合同与收入，也未提供预订或支付</a:t>
            </a:r>
          </a:p>
        </p:txBody>
      </p:sp>
    </p:spTree>
    <p:extLst>
      <p:ext uri="{BB962C8B-B14F-4D97-AF65-F5344CB8AC3E}">
        <p14:creationId xmlns:p14="http://schemas.microsoft.com/office/powerpoint/2010/main" val="16157961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e3e0bfe70495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8  /  下一阶段">
            <a:extLst xmlns:a="http://schemas.openxmlformats.org/drawingml/2006/main">
              <a:ext uri="{FF2B5EF4-FFF2-40B4-BE49-F238E27FC236}">
                <a16:creationId xmlns:a16="http://schemas.microsoft.com/office/drawing/2014/main" id="{0B027672-089E-4AE5-BD79-9650BC54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46F79"/>
                </a:solidFill>
                <a:latin typeface="Noto Sans SC"/>
                <a:ea typeface="Noto Sans SC"/>
                <a:cs typeface="Noto Sans SC"/>
              </a:rPr>
              <a:t>18  /  下一阶段</a:t>
            </a:r>
          </a:p>
        </p:txBody>
      </p:sp>
      <p:sp>
        <p:nvSpPr>
          <p:cNvPr id="3" name="提交前重点转向稳定性与任务证据">
            <a:extLst xmlns:a="http://schemas.openxmlformats.org/drawingml/2006/main">
              <a:ext uri="{FF2B5EF4-FFF2-40B4-BE49-F238E27FC236}">
                <a16:creationId xmlns:a16="http://schemas.microsoft.com/office/drawing/2014/main" id="{7B681D17-2FA9-452E-817F-B5CEC05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4C"/>
                </a:solidFill>
                <a:latin typeface="Noto Sans SC"/>
                <a:ea typeface="Noto Sans SC"/>
                <a:cs typeface="Noto Sans SC"/>
              </a:rPr>
              <a:t>提交前重点转向稳定性与任务证据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1F3FE-B881-4D9F-8DD2-DBBE081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A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CCABA82E-8E1F-4204-8EE4-52234130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19 / 20">
            <a:extLst xmlns:a="http://schemas.openxmlformats.org/drawingml/2006/main">
              <a:ext uri="{FF2B5EF4-FFF2-40B4-BE49-F238E27FC236}">
                <a16:creationId xmlns:a16="http://schemas.microsoft.com/office/drawing/2014/main" id="{A02BB8A3-1605-40A0-AF30-B002A06B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19 / 20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1752600"/>
          <a:ext xmlns:a="http://schemas.openxmlformats.org/drawingml/2006/main" cx="109347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6524625"/>
                <a:gridCol w="2257425"/>
              </a:tblGrid>
              <a:tr h="6715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目标与验收依据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</a:t>
                      </a:r>
                    </a:p>
                  </a:txBody>
                  <a:tcPr marL="152400" marR="133350" marT="95250" marB="76200" anchor="ctr">
                    <a:solidFill>
                      <a:srgbClr val="183D4C"/>
                    </a:solidFill>
                  </a:tcPr>
                </a:tc>
              </a:tr>
              <a:tr h="6715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10月上旬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网站模型联调与真实交通案例</a:t>
                      </a:r>
                    </a:p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检查实现、材料与截图一致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核心案例已验证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6715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10月中下旬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扩展异常回归，记录缺陷与修复</a:t>
                      </a:r>
                    </a:p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启动小范围任务测试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计划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10月下旬—</a:t>
                      </a:r>
                    </a:p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11月上旬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分析原始记录，修复关键问题</a:t>
                      </a:r>
                    </a:p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复测主要任务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计划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  <a:tr h="6715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11月中旬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复核报名信息、材料、许可与演示</a:t>
                      </a:r>
                    </a:p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按当时要求检查提交格式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计划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11月27日前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完成报名系统上传并预留缓冲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4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提交前核对系统</a:t>
                      </a:r>
                    </a:p>
                  </a:txBody>
                  <a:tcPr marL="152400" marR="133350" marT="95250" marB="76200" anchor="ctr"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8" name="团队与指导教师信息待补充；竞赛要求以正式报名系统为准">
            <a:extLst xmlns:a="http://schemas.openxmlformats.org/drawingml/2006/main">
              <a:ext uri="{FF2B5EF4-FFF2-40B4-BE49-F238E27FC236}">
                <a16:creationId xmlns:a16="http://schemas.microsoft.com/office/drawing/2014/main" id="{67F8B327-6239-4C19-83FA-4286F4E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07985"/>
                </a:solidFill>
                <a:latin typeface="Noto Sans SC"/>
                <a:ea typeface="Noto Sans SC"/>
                <a:cs typeface="Noto Sans SC"/>
              </a:rPr>
              <a:t>团队与指导教师信息待补充；竞赛要求以正式报名系统为准</a:t>
            </a:r>
          </a:p>
        </p:txBody>
      </p:sp>
    </p:spTree>
    <p:extLst>
      <p:ext uri="{BB962C8B-B14F-4D97-AF65-F5344CB8AC3E}">
        <p14:creationId xmlns:p14="http://schemas.microsoft.com/office/powerpoint/2010/main" val="18618917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bf5fca6c2482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9  /  在线演示">
            <a:extLst xmlns:a="http://schemas.openxmlformats.org/drawingml/2006/main">
              <a:ext uri="{FF2B5EF4-FFF2-40B4-BE49-F238E27FC236}">
                <a16:creationId xmlns:a16="http://schemas.microsoft.com/office/drawing/2014/main" id="{5A9CECF9-0B0A-4CE8-901B-190A175E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19  /  在线演示</a:t>
            </a:r>
          </a:p>
        </p:txBody>
      </p:sp>
      <p:sp>
        <p:nvSpPr>
          <p:cNvPr id="3" name="豫见行迹">
            <a:extLst xmlns:a="http://schemas.openxmlformats.org/drawingml/2006/main">
              <a:ext uri="{FF2B5EF4-FFF2-40B4-BE49-F238E27FC236}">
                <a16:creationId xmlns:a16="http://schemas.microsoft.com/office/drawing/2014/main" id="{541DCA5A-8D55-4D28-B733-34C746DB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豫见行迹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59C78-2B03-4914-A154-D28564DF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3B"/>
          </a:solidFill>
          <a:ln xmlns:a="http://schemas.openxmlformats.org/drawingml/2006/main" w="0">
            <a:noFill/>
          </a:ln>
        </p:spPr>
      </p:sp>
      <p:sp>
        <p:nvSpPr>
          <p:cNvPr id="5" name="豫见行迹  ·  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2BD29686-A3AD-41B7-B3F8-723DA828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C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EC4CC"/>
                </a:solidFill>
                <a:latin typeface="Noto Sans SC"/>
                <a:ea typeface="Noto Sans SC"/>
                <a:cs typeface="Noto Sans SC"/>
              </a:rPr>
              <a:t>豫见行迹  ·  河南周末游决策助手</a:t>
            </a:r>
          </a:p>
        </p:txBody>
      </p:sp>
      <p:sp>
        <p:nvSpPr>
          <p:cNvPr id="6" name="20 / 20">
            <a:extLst xmlns:a="http://schemas.openxmlformats.org/drawingml/2006/main">
              <a:ext uri="{FF2B5EF4-FFF2-40B4-BE49-F238E27FC236}">
                <a16:creationId xmlns:a16="http://schemas.microsoft.com/office/drawing/2014/main" id="{BA39C35C-EC43-41BE-A5FE-4091D298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C4C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EC4CC"/>
                </a:solidFill>
                <a:latin typeface="Noto Sans SC"/>
                <a:ea typeface="Noto Sans SC"/>
                <a:cs typeface="Noto Sans SC"/>
              </a:rPr>
              <a:t>20 / 20</a:t>
            </a:r>
          </a:p>
        </p:txBody>
      </p:sp>
      <p:sp>
        <p:nvSpPr>
          <p:cNvPr id="7" name="河南周末游决策助手">
            <a:extLst xmlns:a="http://schemas.openxmlformats.org/drawingml/2006/main">
              <a:ext uri="{FF2B5EF4-FFF2-40B4-BE49-F238E27FC236}">
                <a16:creationId xmlns:a16="http://schemas.microsoft.com/office/drawing/2014/main" id="{FB523D60-93CF-4A8D-925E-3C95EE53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10429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河南周末游决策助手</a:t>
            </a:r>
          </a:p>
        </p:txBody>
      </p:sp>
      <p:sp>
        <p:nvSpPr>
          <p:cNvPr id="8" name="已经跑通的链路">
            <a:extLst xmlns:a="http://schemas.openxmlformats.org/drawingml/2006/main">
              <a:ext uri="{FF2B5EF4-FFF2-40B4-BE49-F238E27FC236}">
                <a16:creationId xmlns:a16="http://schemas.microsoft.com/office/drawing/2014/main" id="{2CB36DD4-E6A2-4C23-87E9-6183C6B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已经跑通的链路</a:t>
            </a:r>
          </a:p>
        </p:txBody>
      </p:sp>
      <p:sp>
        <p:nvSpPr>
          <p:cNvPr id="9" name="需求识别、候选确认、交通核算与冲突提示">
            <a:extLst xmlns:a="http://schemas.openxmlformats.org/drawingml/2006/main">
              <a:ext uri="{FF2B5EF4-FFF2-40B4-BE49-F238E27FC236}">
                <a16:creationId xmlns:a16="http://schemas.microsoft.com/office/drawing/2014/main" id="{83CA9371-3654-44CF-9020-A6557BE5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BE8EC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0">
                <a:solidFill>
                  <a:srgbClr val="DBE8EC"/>
                </a:solidFill>
                <a:latin typeface="Noto Sans SC"/>
                <a:ea typeface="Noto Sans SC"/>
                <a:cs typeface="Noto Sans SC"/>
              </a:rPr>
              <a:t>需求识别、候选确认、交通核算与冲突提示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ED4EE-DBBA-4615-B008-1343ABC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43475"/>
            <a:ext cx="112395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3B"/>
          </a:solidFill>
          <a:ln xmlns:a="http://schemas.openxmlformats.org/drawingml/2006/main" w="0">
            <a:noFill/>
          </a:ln>
        </p:spPr>
      </p:sp>
      <p:sp>
        <p:nvSpPr>
          <p:cNvPr id="11" name="roam-map-planner.dangqihan7.chatgpt.site">
            <a:extLst xmlns:a="http://schemas.openxmlformats.org/drawingml/2006/main">
              <a:ext uri="{FF2B5EF4-FFF2-40B4-BE49-F238E27FC236}">
                <a16:creationId xmlns:a16="http://schemas.microsoft.com/office/drawing/2014/main" id="{5A330C73-A29C-45DE-AFAE-91117640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FFFFFF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fa972bf0d80d420e"/>
              </a:rPr>
              <a:t>roam-map-planner.dangqihan7.chatgpt.site</a:t>
            </a:r>
          </a:p>
        </p:txBody>
      </p:sp>
      <p:sp>
        <p:nvSpPr>
          <p:cNvPr id="12" name="下一步：扩大工程回归，完成真实用户任务验证">
            <a:extLst xmlns:a="http://schemas.openxmlformats.org/drawingml/2006/main">
              <a:ext uri="{FF2B5EF4-FFF2-40B4-BE49-F238E27FC236}">
                <a16:creationId xmlns:a16="http://schemas.microsoft.com/office/drawing/2014/main" id="{B53258E1-6725-4CCA-A569-D4E1AD19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A66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A664"/>
                </a:solidFill>
                <a:latin typeface="Noto Sans SC"/>
                <a:ea typeface="Noto Sans SC"/>
                <a:cs typeface="Noto Sans SC"/>
              </a:rPr>
              <a:t>下一步：扩大工程回归，完成真实用户任务验证</a:t>
            </a:r>
          </a:p>
        </p:txBody>
      </p:sp>
    </p:spTree>
    <p:extLst>
      <p:ext uri="{BB962C8B-B14F-4D97-AF65-F5344CB8AC3E}">
        <p14:creationId xmlns:p14="http://schemas.microsoft.com/office/powerpoint/2010/main" val="227223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2026-10-03T15:01:04.0980000Z</dcterms:created>
  <dcterms:modified xsi:type="dcterms:W3CDTF">2026-10-03T15:01:04.0980000Z</dcterms:modified>
</coreProperties>
</file>